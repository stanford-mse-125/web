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9"/>
  </p:notesMasterIdLst>
  <p:sldIdLst>
    <p:sldId id="256" r:id="rId2"/>
    <p:sldId id="257" r:id="rId3"/>
    <p:sldId id="259" r:id="rId4"/>
    <p:sldId id="260" r:id="rId5"/>
    <p:sldId id="344" r:id="rId6"/>
    <p:sldId id="347" r:id="rId7"/>
    <p:sldId id="345" r:id="rId8"/>
    <p:sldId id="346" r:id="rId9"/>
    <p:sldId id="348" r:id="rId10"/>
    <p:sldId id="269" r:id="rId11"/>
    <p:sldId id="263" r:id="rId12"/>
    <p:sldId id="271" r:id="rId13"/>
    <p:sldId id="349" r:id="rId14"/>
    <p:sldId id="350" r:id="rId15"/>
    <p:sldId id="351" r:id="rId16"/>
    <p:sldId id="352" r:id="rId17"/>
    <p:sldId id="353" r:id="rId18"/>
    <p:sldId id="273" r:id="rId19"/>
    <p:sldId id="274" r:id="rId20"/>
    <p:sldId id="275" r:id="rId21"/>
    <p:sldId id="276" r:id="rId22"/>
    <p:sldId id="356" r:id="rId23"/>
    <p:sldId id="355" r:id="rId24"/>
    <p:sldId id="278" r:id="rId25"/>
    <p:sldId id="279" r:id="rId26"/>
    <p:sldId id="280" r:id="rId27"/>
    <p:sldId id="357" r:id="rId28"/>
    <p:sldId id="281" r:id="rId29"/>
    <p:sldId id="282" r:id="rId30"/>
    <p:sldId id="283" r:id="rId31"/>
    <p:sldId id="358" r:id="rId32"/>
    <p:sldId id="359" r:id="rId33"/>
    <p:sldId id="284" r:id="rId34"/>
    <p:sldId id="285" r:id="rId35"/>
    <p:sldId id="286" r:id="rId36"/>
    <p:sldId id="360" r:id="rId37"/>
    <p:sldId id="361" r:id="rId38"/>
    <p:sldId id="287" r:id="rId39"/>
    <p:sldId id="288" r:id="rId40"/>
    <p:sldId id="289" r:id="rId41"/>
    <p:sldId id="362" r:id="rId42"/>
    <p:sldId id="363" r:id="rId43"/>
    <p:sldId id="364" r:id="rId44"/>
    <p:sldId id="365" r:id="rId45"/>
    <p:sldId id="290" r:id="rId46"/>
    <p:sldId id="291" r:id="rId47"/>
    <p:sldId id="292" r:id="rId48"/>
    <p:sldId id="366" r:id="rId49"/>
    <p:sldId id="367" r:id="rId50"/>
    <p:sldId id="368" r:id="rId51"/>
    <p:sldId id="369" r:id="rId52"/>
    <p:sldId id="370" r:id="rId53"/>
    <p:sldId id="293" r:id="rId54"/>
    <p:sldId id="294" r:id="rId55"/>
    <p:sldId id="295" r:id="rId56"/>
    <p:sldId id="371" r:id="rId57"/>
    <p:sldId id="372" r:id="rId58"/>
    <p:sldId id="373" r:id="rId59"/>
    <p:sldId id="296" r:id="rId60"/>
    <p:sldId id="297" r:id="rId61"/>
    <p:sldId id="298" r:id="rId62"/>
    <p:sldId id="299" r:id="rId63"/>
    <p:sldId id="374" r:id="rId64"/>
    <p:sldId id="375" r:id="rId65"/>
    <p:sldId id="302" r:id="rId66"/>
    <p:sldId id="376" r:id="rId67"/>
    <p:sldId id="377" r:id="rId68"/>
    <p:sldId id="378" r:id="rId69"/>
    <p:sldId id="379" r:id="rId70"/>
    <p:sldId id="305" r:id="rId71"/>
    <p:sldId id="380" r:id="rId72"/>
    <p:sldId id="381" r:id="rId73"/>
    <p:sldId id="306" r:id="rId74"/>
    <p:sldId id="307" r:id="rId75"/>
    <p:sldId id="308" r:id="rId76"/>
    <p:sldId id="311" r:id="rId77"/>
    <p:sldId id="382" r:id="rId78"/>
    <p:sldId id="383" r:id="rId79"/>
    <p:sldId id="314" r:id="rId80"/>
    <p:sldId id="315" r:id="rId81"/>
    <p:sldId id="384" r:id="rId82"/>
    <p:sldId id="385" r:id="rId83"/>
    <p:sldId id="387" r:id="rId84"/>
    <p:sldId id="316" r:id="rId85"/>
    <p:sldId id="317" r:id="rId86"/>
    <p:sldId id="318" r:id="rId87"/>
    <p:sldId id="386" r:id="rId88"/>
    <p:sldId id="388" r:id="rId89"/>
    <p:sldId id="389" r:id="rId90"/>
    <p:sldId id="319" r:id="rId91"/>
    <p:sldId id="320" r:id="rId92"/>
    <p:sldId id="321" r:id="rId93"/>
    <p:sldId id="390" r:id="rId94"/>
    <p:sldId id="391" r:id="rId95"/>
    <p:sldId id="392" r:id="rId96"/>
    <p:sldId id="324" r:id="rId97"/>
    <p:sldId id="393" r:id="rId9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18"/>
    <p:restoredTop sz="94640"/>
  </p:normalViewPr>
  <p:slideViewPr>
    <p:cSldViewPr snapToGrid="0" snapToObjects="1">
      <p:cViewPr varScale="1">
        <p:scale>
          <a:sx n="116" d="100"/>
          <a:sy n="116" d="100"/>
        </p:scale>
        <p:origin x="5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E523B1-128E-C447-A231-DEC8DDB4FE6B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81934-1B19-B848-BAC6-EB27AF6DF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456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81934-1B19-B848-BAC6-EB27AF6DF5E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80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81934-1B19-B848-BAC6-EB27AF6DF5E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7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45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60020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Arial"/>
              </a:rPr>
              <a:t>Lecture 19: Causal Wrap-Up + Final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03320"/>
            <a:ext cx="4023360" cy="73152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Arial"/>
              </a:rPr>
              <a:t>MS&amp;E 125 — Applied Statistics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Today’s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19" y="1554480"/>
            <a:ext cx="5120640" cy="438912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17904" y="1682495"/>
            <a:ext cx="479145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dirty="0">
                <a:solidFill>
                  <a:srgbClr val="8C1515"/>
                </a:solidFill>
                <a:latin typeface="Arial"/>
              </a:rPr>
              <a:t>Part 1: Causal wrap-up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1" y="2510027"/>
            <a:ext cx="4791455" cy="23321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dirty="0">
                <a:solidFill>
                  <a:srgbClr val="222222"/>
                </a:solidFill>
                <a:latin typeface="Arial"/>
              </a:rPr>
              <a:t>DAG patterns</a:t>
            </a:r>
            <a:endParaRPr lang="en-US" sz="2000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000" b="0" dirty="0">
                <a:solidFill>
                  <a:srgbClr val="222222"/>
                </a:solidFill>
                <a:latin typeface="Arial"/>
              </a:rPr>
              <a:t>
RCT / A-B tests</a:t>
            </a:r>
            <a:endParaRPr lang="en-US" sz="2000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000" b="0" dirty="0">
                <a:solidFill>
                  <a:srgbClr val="222222"/>
                </a:solidFill>
                <a:latin typeface="Arial"/>
              </a:rPr>
              <a:t>
Natural experiments</a:t>
            </a:r>
            <a:endParaRPr lang="en-US" sz="2000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000" b="0" dirty="0">
                <a:solidFill>
                  <a:srgbClr val="222222"/>
                </a:solidFill>
                <a:latin typeface="Arial"/>
              </a:rPr>
              <a:t>
Difference-in-differences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389120"/>
          </a:xfrm>
          <a:prstGeom prst="roundRect">
            <a:avLst/>
          </a:prstGeom>
          <a:solidFill>
            <a:srgbClr val="EFF6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95744" y="1682495"/>
            <a:ext cx="479145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dirty="0">
                <a:solidFill>
                  <a:srgbClr val="2A6FBB"/>
                </a:solidFill>
                <a:latin typeface="Arial"/>
              </a:rPr>
              <a:t>Part 2: Cumulative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1" y="3021986"/>
            <a:ext cx="4791455" cy="16857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2000" dirty="0">
                <a:solidFill>
                  <a:srgbClr val="222222"/>
                </a:solidFill>
                <a:latin typeface="Arial"/>
              </a:rPr>
              <a:t>R</a:t>
            </a:r>
            <a:r>
              <a:rPr sz="2000" b="0" dirty="0">
                <a:solidFill>
                  <a:srgbClr val="222222"/>
                </a:solidFill>
                <a:latin typeface="Arial"/>
              </a:rPr>
              <a:t>ecap</a:t>
            </a:r>
            <a:endParaRPr lang="en-US" sz="2000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000" b="0" dirty="0">
                <a:solidFill>
                  <a:srgbClr val="222222"/>
                </a:solidFill>
                <a:latin typeface="Arial"/>
              </a:rPr>
              <a:t>
</a:t>
            </a:r>
            <a:r>
              <a:rPr lang="en-US" sz="2000" dirty="0">
                <a:solidFill>
                  <a:srgbClr val="222222"/>
                </a:solidFill>
                <a:latin typeface="Arial"/>
              </a:rPr>
              <a:t>P</a:t>
            </a:r>
            <a:r>
              <a:rPr sz="2000" b="0" dirty="0">
                <a:solidFill>
                  <a:srgbClr val="222222"/>
                </a:solidFill>
                <a:latin typeface="Arial"/>
              </a:rPr>
              <a:t>ractice</a:t>
            </a:r>
            <a:r>
              <a:rPr lang="en-US" sz="2000" b="0" dirty="0">
                <a:solidFill>
                  <a:srgbClr val="222222"/>
                </a:solidFill>
                <a:latin typeface="Arial"/>
              </a:rPr>
              <a:t> questions</a:t>
            </a:r>
          </a:p>
          <a:p>
            <a:pPr algn="l">
              <a:lnSpc>
                <a:spcPct val="105000"/>
              </a:lnSpc>
            </a:pPr>
            <a:r>
              <a:rPr sz="2000" b="0" dirty="0">
                <a:solidFill>
                  <a:srgbClr val="222222"/>
                </a:solidFill>
                <a:latin typeface="Arial"/>
              </a:rPr>
              <a:t>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402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600" b="1">
                <a:solidFill>
                  <a:srgbClr val="FFFFFF"/>
                </a:solidFill>
                <a:latin typeface="Arial"/>
              </a:rPr>
              <a:t>Causal inference wrap-up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The causal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2A6FBB"/>
                </a:solidFill>
                <a:latin typeface="Arial"/>
              </a:rPr>
              <a:t>Prediction asks: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55164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dirty="0">
                <a:solidFill>
                  <a:srgbClr val="222222"/>
                </a:solidFill>
                <a:latin typeface="Arial"/>
              </a:rPr>
              <a:t>What is likely to happen?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5087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8C1515"/>
                </a:solidFill>
                <a:latin typeface="Arial"/>
              </a:rPr>
              <a:t>Causal inference asks: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6225" y="2422309"/>
            <a:ext cx="5029200" cy="840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dirty="0">
                <a:solidFill>
                  <a:srgbClr val="222222"/>
                </a:solidFill>
                <a:latin typeface="Arial"/>
              </a:rPr>
              <a:t>What would happen if we changed something?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749039"/>
            <a:ext cx="10058400" cy="182880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3877055"/>
            <a:ext cx="97292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dirty="0">
                <a:solidFill>
                  <a:srgbClr val="8C1515"/>
                </a:solidFill>
                <a:latin typeface="Arial"/>
              </a:rPr>
              <a:t>Fundamental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4364650"/>
            <a:ext cx="9729216" cy="10394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dirty="0">
                <a:solidFill>
                  <a:srgbClr val="222222"/>
                </a:solidFill>
                <a:latin typeface="Arial"/>
              </a:rPr>
              <a:t>For each unit, we want both potential outcomes: Y(1) and Y(0).
But we only observe one of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Motif 1: confounder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5840" y="2514600"/>
            <a:ext cx="2194560" cy="914400"/>
          </a:xfrm>
          <a:prstGeom prst="roundRect">
            <a:avLst/>
          </a:prstGeom>
          <a:solidFill>
            <a:srgbClr val="FFF7E6"/>
          </a:solidFill>
          <a:ln w="17780"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Z</a:t>
            </a:r>
            <a:br/>
            <a:r>
              <a:t>common cause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691640"/>
            <a:ext cx="2103120" cy="914400"/>
          </a:xfrm>
          <a:prstGeom prst="roundRect">
            <a:avLst/>
          </a:prstGeom>
          <a:solidFill>
            <a:srgbClr val="EEF6FC"/>
          </a:solidFill>
          <a:ln w="17780"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X</a:t>
            </a:r>
            <a:br/>
            <a:r>
              <a:t>treatment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3429000"/>
            <a:ext cx="2103120" cy="914400"/>
          </a:xfrm>
          <a:prstGeom prst="roundRect">
            <a:avLst/>
          </a:prstGeom>
          <a:solidFill>
            <a:srgbClr val="FFF7F7"/>
          </a:solidFill>
          <a:ln w="1778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Y</a:t>
            </a:r>
            <a:br/>
            <a:r>
              <a:t>outcome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200400" y="2148840"/>
            <a:ext cx="1508760" cy="640080"/>
          </a:xfrm>
          <a:prstGeom prst="line">
            <a:avLst/>
          </a:prstGeom>
          <a:ln w="25400">
            <a:solidFill>
              <a:srgbClr val="C668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4020677">
            <a:off x="4626864" y="2066544"/>
            <a:ext cx="164592" cy="164592"/>
          </a:xfrm>
          <a:prstGeom prst="triangle">
            <a:avLst/>
          </a:prstGeom>
          <a:solidFill>
            <a:srgbClr val="C66816"/>
          </a:solidFill>
          <a:ln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3200400" y="3154680"/>
            <a:ext cx="5303520" cy="685800"/>
          </a:xfrm>
          <a:prstGeom prst="line">
            <a:avLst/>
          </a:prstGeom>
          <a:ln w="25400">
            <a:solidFill>
              <a:srgbClr val="C668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842083">
            <a:off x="8421624" y="3758184"/>
            <a:ext cx="164592" cy="164592"/>
          </a:xfrm>
          <a:prstGeom prst="triangle">
            <a:avLst/>
          </a:prstGeom>
          <a:solidFill>
            <a:srgbClr val="C66816"/>
          </a:solidFill>
          <a:ln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6812280" y="2148840"/>
            <a:ext cx="1691640" cy="1508760"/>
          </a:xfrm>
          <a:prstGeom prst="line">
            <a:avLst/>
          </a:prstGeom>
          <a:ln w="25400">
            <a:solidFill>
              <a:srgbClr val="2A66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7903771">
            <a:off x="8421624" y="3575304"/>
            <a:ext cx="164592" cy="164592"/>
          </a:xfrm>
          <a:prstGeom prst="triangle">
            <a:avLst/>
          </a:prstGeom>
          <a:solidFill>
            <a:srgbClr val="2A6694"/>
          </a:solidFill>
          <a:ln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" y="5166360"/>
            <a:ext cx="10332720" cy="731520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fontScale="92500" lnSpcReduction="20000"/>
          </a:bodyPr>
          <a:lstStyle/>
          <a:p>
            <a:pPr algn="ctr">
              <a:defRPr sz="2200" b="0">
                <a:solidFill>
                  <a:srgbClr val="262626"/>
                </a:solidFill>
                <a:latin typeface="Aptos"/>
              </a:defRPr>
            </a:pPr>
            <a:r>
              <a:t>Example: preparation affects both tutoring and exam scores. This is the pattern behind many misleading treatment comparisons.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5B3586-374E-9185-831B-BA96DE49E5EF}"/>
              </a:ext>
            </a:extLst>
          </p:cNvPr>
          <p:cNvSpPr txBox="1"/>
          <p:nvPr/>
        </p:nvSpPr>
        <p:spPr>
          <a:xfrm>
            <a:off x="914400" y="4326225"/>
            <a:ext cx="76122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 confounder Z is a common cause for both treatment X and outcome 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B85F6-0097-DB8C-B574-3E71B82D7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6CE245-544F-BE83-DF2B-8ED3B91B3079}"/>
              </a:ext>
            </a:extLst>
          </p:cNvPr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Motif 1: confounder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EDA096-7AF0-4783-9F37-E7B2491373CE}"/>
              </a:ext>
            </a:extLst>
          </p:cNvPr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78DB65A-362A-84CF-ADF8-B8073BF9206F}"/>
              </a:ext>
            </a:extLst>
          </p:cNvPr>
          <p:cNvSpPr/>
          <p:nvPr/>
        </p:nvSpPr>
        <p:spPr>
          <a:xfrm>
            <a:off x="1005840" y="2514600"/>
            <a:ext cx="2194560" cy="914400"/>
          </a:xfrm>
          <a:prstGeom prst="roundRect">
            <a:avLst/>
          </a:prstGeom>
          <a:solidFill>
            <a:srgbClr val="FFF7E6"/>
          </a:solidFill>
          <a:ln w="17780"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Z</a:t>
            </a:r>
            <a:br/>
            <a:r>
              <a:t>common cause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56FA4F7-2F88-C319-7C13-14761D4FF8BC}"/>
              </a:ext>
            </a:extLst>
          </p:cNvPr>
          <p:cNvSpPr/>
          <p:nvPr/>
        </p:nvSpPr>
        <p:spPr>
          <a:xfrm>
            <a:off x="4709160" y="1691640"/>
            <a:ext cx="2103120" cy="914400"/>
          </a:xfrm>
          <a:prstGeom prst="roundRect">
            <a:avLst/>
          </a:prstGeom>
          <a:solidFill>
            <a:srgbClr val="EEF6FC"/>
          </a:solidFill>
          <a:ln w="17780"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X</a:t>
            </a:r>
            <a:br/>
            <a:r>
              <a:t>treatment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F15BFA0-20BF-777F-582F-BF5AB4DDA51B}"/>
              </a:ext>
            </a:extLst>
          </p:cNvPr>
          <p:cNvSpPr/>
          <p:nvPr/>
        </p:nvSpPr>
        <p:spPr>
          <a:xfrm>
            <a:off x="8503920" y="3429000"/>
            <a:ext cx="2103120" cy="914400"/>
          </a:xfrm>
          <a:prstGeom prst="roundRect">
            <a:avLst/>
          </a:prstGeom>
          <a:solidFill>
            <a:srgbClr val="FFF7F7"/>
          </a:solidFill>
          <a:ln w="1778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Y</a:t>
            </a:r>
            <a:br/>
            <a:r>
              <a:t>outcome</a:t>
            </a: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2AF90797-ECE7-C984-DB7E-0EB4CAB8C6A4}"/>
              </a:ext>
            </a:extLst>
          </p:cNvPr>
          <p:cNvCxnSpPr/>
          <p:nvPr/>
        </p:nvCxnSpPr>
        <p:spPr>
          <a:xfrm flipV="1">
            <a:off x="3200400" y="2148840"/>
            <a:ext cx="1508760" cy="640080"/>
          </a:xfrm>
          <a:prstGeom prst="line">
            <a:avLst/>
          </a:prstGeom>
          <a:ln w="25400">
            <a:solidFill>
              <a:srgbClr val="C668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87EDCF3F-0E27-07C1-27F9-48EC9AAFAAA6}"/>
              </a:ext>
            </a:extLst>
          </p:cNvPr>
          <p:cNvSpPr/>
          <p:nvPr/>
        </p:nvSpPr>
        <p:spPr>
          <a:xfrm rot="4020677">
            <a:off x="4626864" y="2066544"/>
            <a:ext cx="164592" cy="164592"/>
          </a:xfrm>
          <a:prstGeom prst="triangle">
            <a:avLst/>
          </a:prstGeom>
          <a:solidFill>
            <a:srgbClr val="C66816"/>
          </a:solidFill>
          <a:ln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E1535D41-1DF8-C7CB-2B71-3E3E977AAA10}"/>
              </a:ext>
            </a:extLst>
          </p:cNvPr>
          <p:cNvCxnSpPr/>
          <p:nvPr/>
        </p:nvCxnSpPr>
        <p:spPr>
          <a:xfrm>
            <a:off x="3200400" y="3154680"/>
            <a:ext cx="5303520" cy="685800"/>
          </a:xfrm>
          <a:prstGeom prst="line">
            <a:avLst/>
          </a:prstGeom>
          <a:ln w="25400">
            <a:solidFill>
              <a:srgbClr val="C668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B236C51B-7B1B-61D1-0815-757A07AB4968}"/>
              </a:ext>
            </a:extLst>
          </p:cNvPr>
          <p:cNvSpPr/>
          <p:nvPr/>
        </p:nvSpPr>
        <p:spPr>
          <a:xfrm rot="5842083">
            <a:off x="8421624" y="3758184"/>
            <a:ext cx="164592" cy="164592"/>
          </a:xfrm>
          <a:prstGeom prst="triangle">
            <a:avLst/>
          </a:prstGeom>
          <a:solidFill>
            <a:srgbClr val="C66816"/>
          </a:solidFill>
          <a:ln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BA6FE58-4EC3-EEAD-D9EF-6EB288D7D6DC}"/>
              </a:ext>
            </a:extLst>
          </p:cNvPr>
          <p:cNvSpPr/>
          <p:nvPr/>
        </p:nvSpPr>
        <p:spPr>
          <a:xfrm>
            <a:off x="914400" y="5166360"/>
            <a:ext cx="10332720" cy="731520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fontScale="92500" lnSpcReduction="20000"/>
          </a:bodyPr>
          <a:lstStyle/>
          <a:p>
            <a:pPr algn="ctr">
              <a:defRPr sz="2200" b="0">
                <a:solidFill>
                  <a:srgbClr val="262626"/>
                </a:solidFill>
                <a:latin typeface="Aptos"/>
              </a:defRPr>
            </a:pPr>
            <a:r>
              <a:t>Example: preparation affects both tutoring and exam scores. This is the pattern behind many misleading treatment comparisons.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8F68C3-62BB-5195-3BC3-336FC24F40F5}"/>
              </a:ext>
            </a:extLst>
          </p:cNvPr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79B00D-89F0-110C-CA15-75C5988EDDA5}"/>
              </a:ext>
            </a:extLst>
          </p:cNvPr>
          <p:cNvSpPr txBox="1"/>
          <p:nvPr/>
        </p:nvSpPr>
        <p:spPr>
          <a:xfrm>
            <a:off x="914400" y="4326225"/>
            <a:ext cx="76122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 confounder Z is a common cause for both treatment X and outcome Y.</a:t>
            </a:r>
          </a:p>
        </p:txBody>
      </p:sp>
    </p:spTree>
    <p:extLst>
      <p:ext uri="{BB962C8B-B14F-4D97-AF65-F5344CB8AC3E}">
        <p14:creationId xmlns:p14="http://schemas.microsoft.com/office/powerpoint/2010/main" val="484232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Motif 2: mediator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2194560" cy="914400"/>
          </a:xfrm>
          <a:prstGeom prst="roundRect">
            <a:avLst/>
          </a:prstGeom>
          <a:solidFill>
            <a:srgbClr val="EEF6FC"/>
          </a:solidFill>
          <a:ln w="17780"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X</a:t>
            </a:r>
            <a:br/>
            <a:r>
              <a:t>treatment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91840" y="2926080"/>
            <a:ext cx="1600200" cy="0"/>
          </a:xfrm>
          <a:prstGeom prst="line">
            <a:avLst/>
          </a:prstGeom>
          <a:ln w="25400">
            <a:solidFill>
              <a:srgbClr val="2A66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 rot="5400000">
            <a:off x="4809744" y="2843784"/>
            <a:ext cx="164592" cy="164592"/>
          </a:xfrm>
          <a:prstGeom prst="triangle">
            <a:avLst/>
          </a:prstGeom>
          <a:solidFill>
            <a:srgbClr val="2A6694"/>
          </a:solidFill>
          <a:ln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92040" y="2468880"/>
            <a:ext cx="2011680" cy="914400"/>
          </a:xfrm>
          <a:prstGeom prst="roundRect">
            <a:avLst/>
          </a:prstGeom>
          <a:solidFill>
            <a:srgbClr val="FFF7E6"/>
          </a:solidFill>
          <a:ln w="17780"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M</a:t>
            </a:r>
            <a:br/>
            <a:r>
              <a:t>mechanism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903720" y="2926080"/>
            <a:ext cx="1645920" cy="0"/>
          </a:xfrm>
          <a:prstGeom prst="line">
            <a:avLst/>
          </a:prstGeom>
          <a:ln w="25400">
            <a:solidFill>
              <a:srgbClr val="2A66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8467344" y="2843784"/>
            <a:ext cx="164592" cy="164592"/>
          </a:xfrm>
          <a:prstGeom prst="triangle">
            <a:avLst/>
          </a:prstGeom>
          <a:solidFill>
            <a:srgbClr val="2A6694"/>
          </a:solidFill>
          <a:ln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49640" y="2468880"/>
            <a:ext cx="2194560" cy="914400"/>
          </a:xfrm>
          <a:prstGeom prst="roundRect">
            <a:avLst/>
          </a:prstGeom>
          <a:solidFill>
            <a:srgbClr val="FFF7F7"/>
          </a:solidFill>
          <a:ln w="1778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Y</a:t>
            </a:r>
            <a:br/>
            <a:r>
              <a:t>outcome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074920"/>
            <a:ext cx="10332720" cy="868680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lnSpcReduction="10000"/>
          </a:bodyPr>
          <a:lstStyle/>
          <a:p>
            <a:pPr algn="ctr">
              <a:defRPr sz="2200" b="0">
                <a:solidFill>
                  <a:srgbClr val="262626"/>
                </a:solidFill>
                <a:latin typeface="Aptos"/>
              </a:defRPr>
            </a:pPr>
            <a:r>
              <a:t>Example: college may affect alumni network, which may affect earnings. A mediator is part of the causal pathway, not a pre-treatment common cause.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F9327B-2701-E113-E29A-5F3FBE0EFD75}"/>
              </a:ext>
            </a:extLst>
          </p:cNvPr>
          <p:cNvSpPr txBox="1"/>
          <p:nvPr/>
        </p:nvSpPr>
        <p:spPr>
          <a:xfrm>
            <a:off x="1009790" y="4057589"/>
            <a:ext cx="70957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 mediator X is a captures how the treatment X effect outcome Y.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4D931-EBE1-6B17-A362-DC842F9EC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5D61F5-82A2-0F7C-5553-8DE481C10F18}"/>
              </a:ext>
            </a:extLst>
          </p:cNvPr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Motif 2: mediator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F69DBA-D65D-95D7-5FD7-B33A52E69F22}"/>
              </a:ext>
            </a:extLst>
          </p:cNvPr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10E4009-89C0-3995-7CBF-29DFA9DB67D8}"/>
              </a:ext>
            </a:extLst>
          </p:cNvPr>
          <p:cNvSpPr/>
          <p:nvPr/>
        </p:nvSpPr>
        <p:spPr>
          <a:xfrm>
            <a:off x="1097280" y="2468880"/>
            <a:ext cx="2194560" cy="914400"/>
          </a:xfrm>
          <a:prstGeom prst="roundRect">
            <a:avLst/>
          </a:prstGeom>
          <a:solidFill>
            <a:srgbClr val="EEF6FC"/>
          </a:solidFill>
          <a:ln w="17780"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X</a:t>
            </a:r>
            <a:br/>
            <a:r>
              <a:t>treatment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49A24525-3569-447C-B087-F0AEF2DF271F}"/>
              </a:ext>
            </a:extLst>
          </p:cNvPr>
          <p:cNvCxnSpPr/>
          <p:nvPr/>
        </p:nvCxnSpPr>
        <p:spPr>
          <a:xfrm>
            <a:off x="3291840" y="2926080"/>
            <a:ext cx="1600200" cy="0"/>
          </a:xfrm>
          <a:prstGeom prst="line">
            <a:avLst/>
          </a:prstGeom>
          <a:ln w="25400">
            <a:solidFill>
              <a:srgbClr val="2A66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862DD4D3-7F7C-F1C4-30A6-7896BD6C4E47}"/>
              </a:ext>
            </a:extLst>
          </p:cNvPr>
          <p:cNvSpPr/>
          <p:nvPr/>
        </p:nvSpPr>
        <p:spPr>
          <a:xfrm rot="5400000">
            <a:off x="4809744" y="2843784"/>
            <a:ext cx="164592" cy="164592"/>
          </a:xfrm>
          <a:prstGeom prst="triangle">
            <a:avLst/>
          </a:prstGeom>
          <a:solidFill>
            <a:srgbClr val="2A6694"/>
          </a:solidFill>
          <a:ln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E5BB9E6-BB1D-C9B3-BD1B-A4D67A6E202D}"/>
              </a:ext>
            </a:extLst>
          </p:cNvPr>
          <p:cNvSpPr/>
          <p:nvPr/>
        </p:nvSpPr>
        <p:spPr>
          <a:xfrm>
            <a:off x="4892040" y="2468880"/>
            <a:ext cx="2011680" cy="914400"/>
          </a:xfrm>
          <a:prstGeom prst="roundRect">
            <a:avLst/>
          </a:prstGeom>
          <a:solidFill>
            <a:srgbClr val="FFF7E6"/>
          </a:solidFill>
          <a:ln w="17780"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M</a:t>
            </a:r>
            <a:br/>
            <a:r>
              <a:t>mechanism</a:t>
            </a:r>
          </a:p>
        </p:txBody>
      </p: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74C1207A-743B-6F84-2570-78E2227F4404}"/>
              </a:ext>
            </a:extLst>
          </p:cNvPr>
          <p:cNvCxnSpPr/>
          <p:nvPr/>
        </p:nvCxnSpPr>
        <p:spPr>
          <a:xfrm>
            <a:off x="6903720" y="2926080"/>
            <a:ext cx="1645920" cy="0"/>
          </a:xfrm>
          <a:prstGeom prst="line">
            <a:avLst/>
          </a:prstGeom>
          <a:ln w="25400">
            <a:solidFill>
              <a:srgbClr val="2A66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2BE76B7E-C301-3DCD-CECD-8AD01E6457A3}"/>
              </a:ext>
            </a:extLst>
          </p:cNvPr>
          <p:cNvSpPr/>
          <p:nvPr/>
        </p:nvSpPr>
        <p:spPr>
          <a:xfrm rot="5400000">
            <a:off x="8467344" y="2843784"/>
            <a:ext cx="164592" cy="164592"/>
          </a:xfrm>
          <a:prstGeom prst="triangle">
            <a:avLst/>
          </a:prstGeom>
          <a:solidFill>
            <a:srgbClr val="2A6694"/>
          </a:solidFill>
          <a:ln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2EFAFAC-5951-9CD5-685F-6AB0481A4E9B}"/>
              </a:ext>
            </a:extLst>
          </p:cNvPr>
          <p:cNvSpPr/>
          <p:nvPr/>
        </p:nvSpPr>
        <p:spPr>
          <a:xfrm>
            <a:off x="8549640" y="2468880"/>
            <a:ext cx="2194560" cy="914400"/>
          </a:xfrm>
          <a:prstGeom prst="roundRect">
            <a:avLst/>
          </a:prstGeom>
          <a:solidFill>
            <a:srgbClr val="FFF7F7"/>
          </a:solidFill>
          <a:ln w="1778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Y</a:t>
            </a:r>
            <a:br/>
            <a:r>
              <a:t>outcome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A592058-07EF-1067-CD97-C49A363461DF}"/>
              </a:ext>
            </a:extLst>
          </p:cNvPr>
          <p:cNvSpPr/>
          <p:nvPr/>
        </p:nvSpPr>
        <p:spPr>
          <a:xfrm>
            <a:off x="914400" y="5074920"/>
            <a:ext cx="10332720" cy="868680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lnSpcReduction="10000"/>
          </a:bodyPr>
          <a:lstStyle/>
          <a:p>
            <a:pPr algn="ctr">
              <a:defRPr sz="2200" b="0">
                <a:solidFill>
                  <a:srgbClr val="262626"/>
                </a:solidFill>
                <a:latin typeface="Aptos"/>
              </a:defRPr>
            </a:pPr>
            <a:r>
              <a:t>Example: college may affect alumni network, which may affect earnings. A mediator is part of the causal pathway, not a pre-treatment common cause.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1D3CB8-1235-BD9A-8624-306A471B7A3C}"/>
              </a:ext>
            </a:extLst>
          </p:cNvPr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8618AD-D515-207C-BD15-18046E27A7F1}"/>
              </a:ext>
            </a:extLst>
          </p:cNvPr>
          <p:cNvSpPr txBox="1"/>
          <p:nvPr/>
        </p:nvSpPr>
        <p:spPr>
          <a:xfrm>
            <a:off x="1009790" y="4057589"/>
            <a:ext cx="70957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 mediator X is a captures how the treatment X effect outcome Y.  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2259E6A6-9375-76DA-28BF-3A7C570ABE01}"/>
              </a:ext>
            </a:extLst>
          </p:cNvPr>
          <p:cNvSpPr/>
          <p:nvPr/>
        </p:nvSpPr>
        <p:spPr>
          <a:xfrm rot="16200000">
            <a:off x="4704767" y="-1267048"/>
            <a:ext cx="2318181" cy="7517221"/>
          </a:xfrm>
          <a:prstGeom prst="arc">
            <a:avLst>
              <a:gd name="adj1" fmla="val 16241008"/>
              <a:gd name="adj2" fmla="val 5330640"/>
            </a:avLst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A863EA-E560-D7DA-A4C2-8762B9F914BC}"/>
              </a:ext>
            </a:extLst>
          </p:cNvPr>
          <p:cNvSpPr txBox="1"/>
          <p:nvPr/>
        </p:nvSpPr>
        <p:spPr>
          <a:xfrm>
            <a:off x="5690131" y="120246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❌</a:t>
            </a:r>
          </a:p>
        </p:txBody>
      </p:sp>
    </p:spTree>
    <p:extLst>
      <p:ext uri="{BB962C8B-B14F-4D97-AF65-F5344CB8AC3E}">
        <p14:creationId xmlns:p14="http://schemas.microsoft.com/office/powerpoint/2010/main" val="591548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Motif 3: collider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2103120" cy="914400"/>
          </a:xfrm>
          <a:prstGeom prst="roundRect">
            <a:avLst/>
          </a:prstGeom>
          <a:solidFill>
            <a:srgbClr val="EEF6FC"/>
          </a:solidFill>
          <a:ln w="17780"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83480" y="2468880"/>
            <a:ext cx="2194560" cy="914400"/>
          </a:xfrm>
          <a:prstGeom prst="roundRect">
            <a:avLst/>
          </a:prstGeom>
          <a:solidFill>
            <a:srgbClr val="FFF7E6"/>
          </a:solidFill>
          <a:ln w="17780"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C</a:t>
            </a:r>
            <a:br/>
            <a:r>
              <a:t>selected sample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2468880"/>
            <a:ext cx="2103120" cy="914400"/>
          </a:xfrm>
          <a:prstGeom prst="roundRect">
            <a:avLst/>
          </a:prstGeom>
          <a:solidFill>
            <a:srgbClr val="FFF7F7"/>
          </a:solidFill>
          <a:ln w="1778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0" y="2926080"/>
            <a:ext cx="1783080" cy="0"/>
          </a:xfrm>
          <a:prstGeom prst="line">
            <a:avLst/>
          </a:prstGeom>
          <a:ln w="25400">
            <a:solidFill>
              <a:srgbClr val="2A66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5400000">
            <a:off x="4901184" y="2843784"/>
            <a:ext cx="164592" cy="164592"/>
          </a:xfrm>
          <a:prstGeom prst="triangle">
            <a:avLst/>
          </a:prstGeom>
          <a:solidFill>
            <a:srgbClr val="2A6694"/>
          </a:solidFill>
          <a:ln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 flipH="1">
            <a:off x="7178040" y="2926080"/>
            <a:ext cx="1600200" cy="0"/>
          </a:xfrm>
          <a:prstGeom prst="line">
            <a:avLst/>
          </a:prstGeom>
          <a:ln w="25400">
            <a:solidFill>
              <a:srgbClr val="8C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16200000">
            <a:off x="7095744" y="2843784"/>
            <a:ext cx="164592" cy="164592"/>
          </a:xfrm>
          <a:prstGeom prst="triangle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5074920"/>
            <a:ext cx="10332720" cy="868680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fontScale="92500"/>
          </a:bodyPr>
          <a:lstStyle/>
          <a:p>
            <a:pPr algn="ctr">
              <a:defRPr sz="2200" b="0">
                <a:solidFill>
                  <a:srgbClr val="262626"/>
                </a:solidFill>
                <a:latin typeface="Aptos"/>
              </a:defRPr>
            </a:pPr>
            <a:r>
              <a:t>Example: if we only look at people hired by a top firm, talent and connections may become related inside that selected group even if they were unrelated in the full population.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6A0D0-CA0E-2CE2-2626-1C080B534773}"/>
              </a:ext>
            </a:extLst>
          </p:cNvPr>
          <p:cNvSpPr txBox="1"/>
          <p:nvPr/>
        </p:nvSpPr>
        <p:spPr>
          <a:xfrm>
            <a:off x="914400" y="4077730"/>
            <a:ext cx="5458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 collider measures the common effect of X and Y.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Causal designs: what creates the comparison?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474720" cy="448056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545336"/>
            <a:ext cx="31455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C1515"/>
                </a:solidFill>
                <a:latin typeface="Arial"/>
              </a:rPr>
              <a:t>RCT / A-B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597746"/>
            <a:ext cx="3145536" cy="19247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0" dirty="0">
                <a:solidFill>
                  <a:srgbClr val="222222"/>
                </a:solidFill>
                <a:latin typeface="Arial"/>
              </a:rPr>
              <a:t>Researcher randomizes treatment.
Best defense against confounding.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566160" cy="4480560"/>
          </a:xfrm>
          <a:prstGeom prst="roundRect">
            <a:avLst/>
          </a:prstGeom>
          <a:solidFill>
            <a:srgbClr val="EFF6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07992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A6FBB"/>
                </a:solidFill>
                <a:latin typeface="Arial"/>
              </a:rPr>
              <a:t>Natural experiment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2458" y="2455164"/>
            <a:ext cx="3236976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0" dirty="0">
                <a:solidFill>
                  <a:srgbClr val="222222"/>
                </a:solidFill>
                <a:latin typeface="Arial"/>
              </a:rPr>
              <a:t>External process creates near-random treatment variation.
Example: different water companies in Snow’s cholera study.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417320"/>
            <a:ext cx="3429000" cy="4480560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48471" y="1545336"/>
            <a:ext cx="30998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87D3C"/>
                </a:solidFill>
                <a:latin typeface="Arial"/>
              </a:rPr>
              <a:t>Difference-in-differences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3232" y="2455164"/>
            <a:ext cx="3099816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0" dirty="0">
                <a:solidFill>
                  <a:srgbClr val="222222"/>
                </a:solidFill>
                <a:latin typeface="Arial"/>
              </a:rPr>
              <a:t>Compare before/after changes in treated and control groups.
Key assumption: parallel trends.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In an RCT, the comparison is built by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835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0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75360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Group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Observed outcome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Why credible?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536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Treatment group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Y(1)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Randomization makes the group comparable to control before treatment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536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Control group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Y(0)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Control outcomes estimate the missing untreated outcomes for treated units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800600"/>
            <a:ext cx="10789920" cy="6858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normAutofit fontScale="92500" lnSpcReduction="20000"/>
          </a:bodyPr>
          <a:lstStyle/>
          <a:p>
            <a:pPr algn="ctr">
              <a:defRPr sz="2600" b="1" i="0">
                <a:solidFill>
                  <a:srgbClr val="8C1515"/>
                </a:solidFill>
                <a:latin typeface="Aptos"/>
              </a:defRPr>
            </a:pPr>
            <a:r>
              <a:t>Average treatment effect ≈ mean(treated outcomes) − mean(control outcomes)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Why natural experiments?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89920" cy="3200400"/>
          </a:xfrm>
          <a:prstGeom prst="rect">
            <a:avLst/>
          </a:prstGeom>
          <a:noFill/>
        </p:spPr>
        <p:txBody>
          <a:bodyPr wrap="square" lIns="164592" tIns="18288" rIns="73152" bIns="18288">
            <a:normAutofit/>
          </a:bodyPr>
          <a:lstStyle/>
          <a:p>
            <a:pPr>
              <a:spcAft>
                <a:spcPts val="700"/>
              </a:spcAft>
              <a:defRPr sz="2700">
                <a:solidFill>
                  <a:srgbClr val="262626"/>
                </a:solidFill>
                <a:latin typeface="Aptos"/>
              </a:defRPr>
            </a:pPr>
            <a:r>
              <a:t>Many causal questions cannot be randomized for ethical, legal, or practical reasons.</a:t>
            </a:r>
          </a:p>
          <a:p>
            <a:pPr>
              <a:spcAft>
                <a:spcPts val="700"/>
              </a:spcAft>
              <a:defRPr sz="2700">
                <a:solidFill>
                  <a:srgbClr val="262626"/>
                </a:solidFill>
                <a:latin typeface="Aptos"/>
              </a:defRPr>
            </a:pPr>
            <a:r>
              <a:t>Sometimes the world creates variation that resembles random assignment.</a:t>
            </a:r>
          </a:p>
          <a:p>
            <a:pPr>
              <a:spcAft>
                <a:spcPts val="700"/>
              </a:spcAft>
              <a:defRPr sz="2700">
                <a:solidFill>
                  <a:srgbClr val="262626"/>
                </a:solidFill>
                <a:latin typeface="Aptos"/>
              </a:defRPr>
            </a:pPr>
            <a:r>
              <a:t>The analyst’s job is to argue why the treated and comparison groups are comparable.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892040"/>
            <a:ext cx="10424160" cy="822960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fontScale="92500" lnSpcReduction="20000"/>
          </a:bodyPr>
          <a:lstStyle/>
          <a:p>
            <a:pPr algn="ctr">
              <a:defRPr sz="2400" b="0">
                <a:solidFill>
                  <a:srgbClr val="262626"/>
                </a:solidFill>
                <a:latin typeface="Aptos"/>
              </a:defRPr>
            </a:pPr>
            <a:r>
              <a:t>Natural experiment logic: not “we controlled for everything,” but “the assignment mechanism created a fair comparison.”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Before/after alone is not enough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8680" y="1371600"/>
            <a:ext cx="10424160" cy="713232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fontScale="85000" lnSpcReduction="10000"/>
          </a:bodyPr>
          <a:lstStyle/>
          <a:p>
            <a:pPr algn="ctr">
              <a:defRPr sz="2400" b="0">
                <a:solidFill>
                  <a:srgbClr val="262626"/>
                </a:solidFill>
                <a:latin typeface="Aptos"/>
              </a:defRPr>
            </a:pPr>
            <a:r>
              <a:t>A hospital introduces a new discharge protocol. Readmissions fall from 20% to 15%.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241280" cy="365760"/>
          </a:xfrm>
          <a:prstGeom prst="rect">
            <a:avLst/>
          </a:prstGeom>
          <a:noFill/>
        </p:spPr>
        <p:txBody>
          <a:bodyPr wrap="square" lIns="73152" tIns="27432" rIns="73152" bIns="27432">
            <a:normAutofit fontScale="92500" lnSpcReduction="20000"/>
          </a:bodyPr>
          <a:lstStyle/>
          <a:p>
            <a:pPr algn="ctr">
              <a:defRPr sz="2600" b="1" i="0">
                <a:solidFill>
                  <a:srgbClr val="8C1515"/>
                </a:solidFill>
                <a:latin typeface="Aptos"/>
              </a:defRPr>
            </a:pPr>
            <a:r>
              <a:t>Question: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241280" cy="6858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 fontScale="77500" lnSpcReduction="20000"/>
          </a:bodyPr>
          <a:lstStyle/>
          <a:p>
            <a:pPr algn="ctr">
              <a:defRPr sz="3000" b="1" i="0">
                <a:solidFill>
                  <a:srgbClr val="262626"/>
                </a:solidFill>
                <a:latin typeface="Aptos"/>
              </a:defRPr>
            </a:pPr>
            <a:r>
              <a:t>Did the protocol cause the drop, or were readmissions falling everywhere?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754880"/>
            <a:ext cx="9966960" cy="777240"/>
          </a:xfrm>
          <a:prstGeom prst="roundRect">
            <a:avLst/>
          </a:prstGeom>
          <a:solidFill>
            <a:srgbClr val="FFF7F7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/>
          </a:bodyPr>
          <a:lstStyle/>
          <a:p>
            <a:pPr algn="ctr">
              <a:defRPr sz="2400" b="0">
                <a:solidFill>
                  <a:srgbClr val="262626"/>
                </a:solidFill>
                <a:latin typeface="Aptos"/>
              </a:defRPr>
            </a:pPr>
            <a:r>
              <a:t>We need a control group to estimate the background trend.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Treated/control after treatment is not enough either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417320"/>
          <a:ext cx="1065276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2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4390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Comparison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Problem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4390"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Before/after among treated units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Time trends may explain the change.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4390"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Treated/control after treatment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Groups may have differed before treatment.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4390"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Difference-in-differences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Uses both before/after and treated/control comparisons.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The 2×2 difference-in-differences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234440"/>
          <a:ext cx="102412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Hospital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Before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After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Change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Treated hospital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20%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15%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−5 pp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Control hospital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18%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16%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−2 pp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Difference-in-differences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−3 pp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892040"/>
            <a:ext cx="10515600" cy="5943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normAutofit/>
          </a:bodyPr>
          <a:lstStyle/>
          <a:p>
            <a:pPr algn="ctr">
              <a:defRPr sz="2600" b="1" i="0">
                <a:solidFill>
                  <a:srgbClr val="8C1515"/>
                </a:solidFill>
                <a:latin typeface="Aptos"/>
              </a:defRPr>
            </a:pPr>
            <a:r>
              <a:t>DiD = (15 − 20) − (16 − 18) = −3 percentage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The 2×2 difference-in-differences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234440"/>
          <a:ext cx="102412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Hospital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Before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After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Change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Treated hospital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20%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15%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−5 pp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Control hospital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18%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16%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−2 pp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Difference-in-differences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−3 pp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892040"/>
            <a:ext cx="10515600" cy="5943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normAutofit/>
          </a:bodyPr>
          <a:lstStyle/>
          <a:p>
            <a:pPr algn="ctr">
              <a:defRPr sz="2600" b="1" i="0">
                <a:solidFill>
                  <a:srgbClr val="8C1515"/>
                </a:solidFill>
                <a:latin typeface="Aptos"/>
              </a:defRPr>
            </a:pPr>
            <a:r>
              <a:t>DiD = (15 − 20) − (16 − 18) = −3 percentage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Parallel trends is the causal assumption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50442"/>
            <a:ext cx="10424160" cy="4572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 fontScale="92500"/>
          </a:bodyPr>
          <a:lstStyle/>
          <a:p>
            <a:pPr algn="ctr">
              <a:defRPr sz="2600" b="1" i="0">
                <a:solidFill>
                  <a:srgbClr val="262626"/>
                </a:solidFill>
                <a:latin typeface="Aptos"/>
              </a:defRPr>
            </a:pPr>
            <a:r>
              <a:rPr dirty="0"/>
              <a:t>It does not require the treated and control groups to have the same level.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424160" cy="640080"/>
          </a:xfrm>
          <a:prstGeom prst="rect">
            <a:avLst/>
          </a:prstGeom>
          <a:noFill/>
        </p:spPr>
        <p:txBody>
          <a:bodyPr wrap="square" lIns="73152" tIns="27432" rIns="73152" bIns="27432">
            <a:normAutofit fontScale="77500" lnSpcReduction="20000"/>
          </a:bodyPr>
          <a:lstStyle/>
          <a:p>
            <a:pPr algn="ctr">
              <a:defRPr sz="3000" b="1" i="0">
                <a:solidFill>
                  <a:srgbClr val="8C1515"/>
                </a:solidFill>
                <a:latin typeface="Aptos"/>
              </a:defRPr>
            </a:pPr>
            <a:r>
              <a:rPr dirty="0"/>
              <a:t>It requires that, absent treatment, their changes over time would have been similar.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3246120"/>
          <a:ext cx="103327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Good sign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Warning sign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Pre-treatment trends look similar.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Trends diverge before treatment.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Control group faces same background shocks.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Control group affected by different shocks.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Treatment timing is clearly defined.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Treatment adoption is gradual or anticipatory.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40280"/>
            <a:ext cx="10789920" cy="78406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4600" b="1" dirty="0">
                <a:solidFill>
                  <a:srgbClr val="FFFFFF"/>
                </a:solidFill>
                <a:latin typeface="Arial"/>
              </a:rPr>
              <a:t>Final</a:t>
            </a:r>
            <a:r>
              <a:rPr sz="4600" b="1" dirty="0">
                <a:solidFill>
                  <a:srgbClr val="FFFFFF"/>
                </a:solidFill>
                <a:latin typeface="Arial"/>
              </a:rPr>
              <a:t> review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Course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566160" cy="466344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1453895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C1515"/>
                </a:solidFill>
                <a:latin typeface="Arial"/>
              </a:rPr>
              <a:t>Act 1: Build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968738"/>
            <a:ext cx="3236976" cy="39017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dirty="0">
                <a:solidFill>
                  <a:srgbClr val="222222"/>
                </a:solidFill>
                <a:latin typeface="Arial"/>
              </a:rPr>
              <a:t>1. Applied statistics</a:t>
            </a:r>
            <a:endParaRPr lang="en-US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b="0" dirty="0">
                <a:solidFill>
                  <a:srgbClr val="222222"/>
                </a:solidFill>
                <a:latin typeface="Arial"/>
              </a:rPr>
              <a:t>
2. EDA</a:t>
            </a:r>
            <a:endParaRPr lang="en-US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b="0" dirty="0">
                <a:solidFill>
                  <a:srgbClr val="222222"/>
                </a:solidFill>
                <a:latin typeface="Arial"/>
              </a:rPr>
              <a:t>
3. Data munging</a:t>
            </a:r>
            <a:endParaRPr lang="en-US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b="0" dirty="0">
                <a:solidFill>
                  <a:srgbClr val="222222"/>
                </a:solidFill>
                <a:latin typeface="Arial"/>
              </a:rPr>
              <a:t>
4. Regression</a:t>
            </a:r>
            <a:endParaRPr lang="en-US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b="0" dirty="0">
                <a:solidFill>
                  <a:srgbClr val="222222"/>
                </a:solidFill>
                <a:latin typeface="Arial"/>
              </a:rPr>
              <a:t>
5. Multiple regression</a:t>
            </a:r>
            <a:endParaRPr lang="en-US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b="0" dirty="0">
                <a:solidFill>
                  <a:srgbClr val="222222"/>
                </a:solidFill>
                <a:latin typeface="Arial"/>
              </a:rPr>
              <a:t>
6. Validation</a:t>
            </a:r>
            <a:endParaRPr lang="en-US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b="0" dirty="0">
                <a:solidFill>
                  <a:srgbClr val="222222"/>
                </a:solidFill>
                <a:latin typeface="Arial"/>
              </a:rPr>
              <a:t>
7. Classification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566160" cy="4663440"/>
          </a:xfrm>
          <a:prstGeom prst="roundRect">
            <a:avLst/>
          </a:prstGeom>
          <a:solidFill>
            <a:srgbClr val="EFF6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07992" y="1453895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A6FBB"/>
                </a:solidFill>
                <a:latin typeface="Arial"/>
              </a:rPr>
              <a:t>Act 2: Trust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2052827"/>
            <a:ext cx="3236976" cy="2980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dirty="0">
                <a:solidFill>
                  <a:srgbClr val="222222"/>
                </a:solidFill>
                <a:latin typeface="Arial"/>
              </a:rPr>
              <a:t>8. Bootstrap / CLT</a:t>
            </a:r>
            <a:endParaRPr lang="en-US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b="0" dirty="0">
                <a:solidFill>
                  <a:srgbClr val="222222"/>
                </a:solidFill>
                <a:latin typeface="Arial"/>
              </a:rPr>
              <a:t>
9. Permutation tests</a:t>
            </a:r>
            <a:endParaRPr lang="en-US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b="0" dirty="0">
                <a:solidFill>
                  <a:srgbClr val="222222"/>
                </a:solidFill>
                <a:latin typeface="Arial"/>
              </a:rPr>
              <a:t>
10. Hypothesis tests</a:t>
            </a:r>
            <a:endParaRPr lang="en-US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b="0" dirty="0">
                <a:solidFill>
                  <a:srgbClr val="222222"/>
                </a:solidFill>
                <a:latin typeface="Arial"/>
              </a:rPr>
              <a:t>
11. Multiple testing</a:t>
            </a:r>
            <a:endParaRPr lang="en-US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b="0" dirty="0">
                <a:solidFill>
                  <a:srgbClr val="222222"/>
                </a:solidFill>
                <a:latin typeface="Arial"/>
              </a:rPr>
              <a:t>
12. Regression inference
+ classification inference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325880"/>
            <a:ext cx="3474720" cy="4663440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48471" y="1453895"/>
            <a:ext cx="31455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87D3C"/>
                </a:solidFill>
                <a:latin typeface="Arial"/>
              </a:rPr>
              <a:t>Act 3: See Further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1" y="2050619"/>
            <a:ext cx="3145536" cy="32715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dirty="0">
                <a:solidFill>
                  <a:srgbClr val="222222"/>
                </a:solidFill>
                <a:latin typeface="Arial"/>
              </a:rPr>
              <a:t>13. Trees / forests</a:t>
            </a:r>
            <a:endParaRPr lang="en-US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b="0" dirty="0">
                <a:solidFill>
                  <a:srgbClr val="222222"/>
                </a:solidFill>
                <a:latin typeface="Arial"/>
              </a:rPr>
              <a:t>
14. PCA</a:t>
            </a:r>
            <a:endParaRPr lang="en-US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b="0" dirty="0">
                <a:solidFill>
                  <a:srgbClr val="222222"/>
                </a:solidFill>
                <a:latin typeface="Arial"/>
              </a:rPr>
              <a:t>
15. Clustering</a:t>
            </a:r>
            <a:endParaRPr lang="en-US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b="0" dirty="0">
                <a:solidFill>
                  <a:srgbClr val="222222"/>
                </a:solidFill>
                <a:latin typeface="Arial"/>
              </a:rPr>
              <a:t>
16. Deployment validation</a:t>
            </a:r>
            <a:endParaRPr lang="en-US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b="0" dirty="0">
                <a:solidFill>
                  <a:srgbClr val="222222"/>
                </a:solidFill>
                <a:latin typeface="Arial"/>
              </a:rPr>
              <a:t>
17. Working with AI</a:t>
            </a:r>
            <a:endParaRPr lang="en-US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b="0" dirty="0">
                <a:solidFill>
                  <a:srgbClr val="222222"/>
                </a:solidFill>
                <a:latin typeface="Arial"/>
              </a:rPr>
              <a:t>
18–19. Causal inference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6336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3600" b="1" dirty="0">
                <a:solidFill>
                  <a:srgbClr val="222222"/>
                </a:solidFill>
                <a:latin typeface="Arial"/>
              </a:rPr>
              <a:t>About </a:t>
            </a:r>
            <a:r>
              <a:rPr sz="3600" b="1" dirty="0">
                <a:solidFill>
                  <a:srgbClr val="222222"/>
                </a:solidFill>
                <a:latin typeface="Arial"/>
              </a:rPr>
              <a:t>practice final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29000" cy="448056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1545336"/>
            <a:ext cx="30998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C1515"/>
                </a:solidFill>
                <a:latin typeface="Arial"/>
              </a:rPr>
              <a:t>Tool literacy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41468"/>
            <a:ext cx="3419855" cy="1526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dirty="0">
                <a:solidFill>
                  <a:srgbClr val="222222"/>
                </a:solidFill>
                <a:latin typeface="Arial"/>
              </a:rPr>
              <a:t>Choose the right method.</a:t>
            </a:r>
            <a:endParaRPr lang="en-US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b="0" dirty="0">
                <a:solidFill>
                  <a:srgbClr val="222222"/>
                </a:solidFill>
                <a:latin typeface="Arial"/>
              </a:rPr>
              <a:t>
Compute s</a:t>
            </a:r>
            <a:r>
              <a:rPr lang="en-US" b="0" dirty="0">
                <a:solidFill>
                  <a:srgbClr val="222222"/>
                </a:solidFill>
                <a:latin typeface="Arial"/>
              </a:rPr>
              <a:t>ome</a:t>
            </a:r>
            <a:r>
              <a:rPr b="0" dirty="0">
                <a:solidFill>
                  <a:srgbClr val="222222"/>
                </a:solidFill>
                <a:latin typeface="Arial"/>
              </a:rPr>
              <a:t> quantities.</a:t>
            </a:r>
            <a:endParaRPr lang="en-US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b="0" dirty="0">
                <a:solidFill>
                  <a:srgbClr val="222222"/>
                </a:solidFill>
                <a:latin typeface="Arial"/>
              </a:rPr>
              <a:t>
Know formulas and definitions.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429000" cy="4480560"/>
          </a:xfrm>
          <a:prstGeom prst="roundRect">
            <a:avLst/>
          </a:prstGeom>
          <a:solidFill>
            <a:srgbClr val="EFF6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1" y="1545336"/>
            <a:ext cx="30998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A6FBB"/>
                </a:solidFill>
                <a:latin typeface="Arial"/>
              </a:rPr>
              <a:t>Interpretation / EDA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6092" y="2286302"/>
            <a:ext cx="3099816" cy="19074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dirty="0">
                <a:solidFill>
                  <a:srgbClr val="222222"/>
                </a:solidFill>
                <a:latin typeface="Arial"/>
              </a:rPr>
              <a:t>Read plots.</a:t>
            </a:r>
            <a:endParaRPr lang="en-US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b="0" dirty="0">
                <a:solidFill>
                  <a:srgbClr val="222222"/>
                </a:solidFill>
                <a:latin typeface="Arial"/>
              </a:rPr>
              <a:t>
Interpret coefficients.</a:t>
            </a:r>
            <a:endParaRPr lang="en-US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b="0" dirty="0">
                <a:solidFill>
                  <a:srgbClr val="222222"/>
                </a:solidFill>
                <a:latin typeface="Arial"/>
              </a:rPr>
              <a:t>
Critique missingness, confounding, and design</a:t>
            </a:r>
            <a:r>
              <a:rPr sz="2400" b="0" dirty="0">
                <a:solidFill>
                  <a:srgbClr val="222222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417320"/>
            <a:ext cx="3337560" cy="4480560"/>
          </a:xfrm>
          <a:prstGeom prst="roundRect">
            <a:avLst/>
          </a:prstGeom>
          <a:solidFill>
            <a:srgbClr val="FFF4E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48470" y="1545336"/>
            <a:ext cx="3337559" cy="4231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dirty="0">
                <a:solidFill>
                  <a:srgbClr val="B85C00"/>
                </a:solidFill>
                <a:latin typeface="Arial"/>
              </a:rPr>
              <a:t>Diagnose + supervise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1" y="2431726"/>
            <a:ext cx="3008376" cy="18172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b="0" dirty="0">
                <a:solidFill>
                  <a:srgbClr val="222222"/>
                </a:solidFill>
                <a:latin typeface="Arial"/>
              </a:rPr>
              <a:t>Read/</a:t>
            </a:r>
            <a:r>
              <a:rPr b="0" dirty="0">
                <a:solidFill>
                  <a:srgbClr val="222222"/>
                </a:solidFill>
                <a:latin typeface="Arial"/>
              </a:rPr>
              <a:t>Audit AI code.</a:t>
            </a:r>
            <a:endParaRPr lang="en-US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b="0" dirty="0">
                <a:solidFill>
                  <a:srgbClr val="222222"/>
                </a:solidFill>
                <a:latin typeface="Arial"/>
              </a:rPr>
              <a:t>
Spot leakage, shift, metric gaming.</a:t>
            </a:r>
            <a:endParaRPr lang="en-US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b="0" dirty="0">
                <a:solidFill>
                  <a:srgbClr val="222222"/>
                </a:solidFill>
                <a:latin typeface="Arial"/>
              </a:rPr>
              <a:t>
State what to check next.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402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600" b="1">
                <a:solidFill>
                  <a:srgbClr val="FFFFFF"/>
                </a:solidFill>
                <a:latin typeface="Arial"/>
              </a:rPr>
              <a:t>Act 1: Build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461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0">
                <a:solidFill>
                  <a:srgbClr val="FFFFFF"/>
                </a:solidFill>
                <a:latin typeface="Arial"/>
              </a:rPr>
              <a:t>Data, features, regression, validation, classification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3C22C-32FA-B3FB-CA3F-E895CCA55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CE10F-62BA-E9CC-7456-259A8894806A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D7F3CF1-19CF-4CF6-472E-5C6ACE0B7A10}"/>
              </a:ext>
            </a:extLst>
          </p:cNvPr>
          <p:cNvSpPr/>
          <p:nvPr/>
        </p:nvSpPr>
        <p:spPr>
          <a:xfrm>
            <a:off x="683672" y="1658998"/>
            <a:ext cx="7450235" cy="3168183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B411DF-3423-3328-88F3-7B951A26FCF0}"/>
              </a:ext>
            </a:extLst>
          </p:cNvPr>
          <p:cNvSpPr txBox="1"/>
          <p:nvPr/>
        </p:nvSpPr>
        <p:spPr>
          <a:xfrm>
            <a:off x="1199139" y="1799960"/>
            <a:ext cx="2962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dirty="0">
                <a:solidFill>
                  <a:srgbClr val="287D3C"/>
                </a:solidFill>
                <a:latin typeface="Arial"/>
              </a:rPr>
              <a:t>Keep in mind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8397D4-3698-7295-9F39-6849892B3B4C}"/>
              </a:ext>
            </a:extLst>
          </p:cNvPr>
          <p:cNvSpPr txBox="1"/>
          <p:nvPr/>
        </p:nvSpPr>
        <p:spPr>
          <a:xfrm>
            <a:off x="434340" y="213076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dirty="0">
                <a:solidFill>
                  <a:srgbClr val="222222"/>
                </a:solidFill>
                <a:latin typeface="Arial"/>
              </a:rPr>
              <a:t>Ch 1: Introduction to applied statistics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FE7AD5-B6E7-334A-FD48-BE2372643460}"/>
              </a:ext>
            </a:extLst>
          </p:cNvPr>
          <p:cNvSpPr txBox="1"/>
          <p:nvPr/>
        </p:nvSpPr>
        <p:spPr>
          <a:xfrm>
            <a:off x="1199139" y="2371060"/>
            <a:ext cx="77215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b="1" dirty="0"/>
              <a:t>Summary</a:t>
            </a:r>
            <a:r>
              <a:rPr lang="en-US" dirty="0"/>
              <a:t>:  describe what happened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/>
              <a:t>Prediction</a:t>
            </a:r>
            <a:r>
              <a:rPr lang="en-US" dirty="0"/>
              <a:t>: forecast what will happen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/>
              <a:t>Inference</a:t>
            </a:r>
            <a:r>
              <a:rPr lang="en-US" dirty="0"/>
              <a:t>: quantify uncertainty about a conclusion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/>
              <a:t>Causation</a:t>
            </a:r>
            <a:r>
              <a:rPr lang="en-US" dirty="0"/>
              <a:t>: determine what would happen under an intervention</a:t>
            </a:r>
          </a:p>
        </p:txBody>
      </p:sp>
    </p:spTree>
    <p:extLst>
      <p:ext uri="{BB962C8B-B14F-4D97-AF65-F5344CB8AC3E}">
        <p14:creationId xmlns:p14="http://schemas.microsoft.com/office/powerpoint/2010/main" val="41210751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F16AA-E7CD-64B2-B7B6-A2D29E81C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C80521-8165-3EF1-450E-E542800AADA0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D79C97-82DD-985B-B77B-4834BB3BD030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dirty="0">
                <a:solidFill>
                  <a:srgbClr val="222222"/>
                </a:solidFill>
                <a:latin typeface="Arial"/>
              </a:rPr>
              <a:t>Ch 1: Introduction to applied statistics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27D35F-7A47-DF59-9CA0-E22ADC8EE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88" y="1337202"/>
            <a:ext cx="9834035" cy="334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941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ractice_funnel_read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766560" cy="4800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43800" y="1508760"/>
            <a:ext cx="4069080" cy="384048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08392" y="1636776"/>
            <a:ext cx="37398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C1515"/>
                </a:solidFill>
                <a:latin typeface="Arial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08392" y="2029967"/>
            <a:ext cx="3739896" cy="23921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dirty="0">
                <a:solidFill>
                  <a:srgbClr val="222222"/>
                </a:solidFill>
                <a:latin typeface="Arial"/>
              </a:rPr>
              <a:t>A small hospital has the highest observed readmission rate.
Should we </a:t>
            </a:r>
            <a:r>
              <a:rPr lang="en-US" sz="2400" b="0" dirty="0">
                <a:solidFill>
                  <a:srgbClr val="222222"/>
                </a:solidFill>
                <a:latin typeface="Arial"/>
              </a:rPr>
              <a:t>conclude</a:t>
            </a:r>
            <a:r>
              <a:rPr sz="2400" b="0" dirty="0">
                <a:solidFill>
                  <a:srgbClr val="222222"/>
                </a:solidFill>
                <a:latin typeface="Arial"/>
              </a:rPr>
              <a:t> the worst hospital?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A0FE66-880E-6337-6497-E60AFE5ED624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dirty="0">
                <a:solidFill>
                  <a:srgbClr val="222222"/>
                </a:solidFill>
                <a:latin typeface="Arial"/>
              </a:rPr>
              <a:t>Ch 1: Introduction to applied statistics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Practice 1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8680" y="1508760"/>
            <a:ext cx="10424160" cy="3611880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1636776"/>
            <a:ext cx="10094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dirty="0">
                <a:solidFill>
                  <a:srgbClr val="287D3C"/>
                </a:solidFill>
                <a:latin typeface="Arial"/>
              </a:rPr>
              <a:t>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249424"/>
            <a:ext cx="10094976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 dirty="0">
                <a:solidFill>
                  <a:srgbClr val="222222"/>
                </a:solidFill>
                <a:latin typeface="Arial"/>
              </a:rPr>
              <a:t>No. Small denominators create noisy rates.
The graph shows wider variation among low-volume hospitals.
Before ranking, quantify uncertainty and check whether the apparent extreme could be sampling noise.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2: Exploratory Data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566160" cy="443484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dirty="0">
                <a:solidFill>
                  <a:srgbClr val="8C1515"/>
                </a:solidFill>
                <a:latin typeface="Arial"/>
              </a:rPr>
              <a:t>Main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235708"/>
            <a:ext cx="3236976" cy="32669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dirty="0">
                <a:solidFill>
                  <a:srgbClr val="222222"/>
                </a:solidFill>
                <a:latin typeface="Arial"/>
              </a:rPr>
              <a:t>Before modeling, understand </a:t>
            </a:r>
            <a:r>
              <a:rPr lang="en-US" sz="2200" dirty="0">
                <a:solidFill>
                  <a:srgbClr val="222222"/>
                </a:solidFill>
                <a:latin typeface="Arial"/>
              </a:rPr>
              <a:t>what the data looks like.</a:t>
            </a:r>
          </a:p>
          <a:p>
            <a:pPr algn="l">
              <a:lnSpc>
                <a:spcPct val="105000"/>
              </a:lnSpc>
            </a:pPr>
            <a:endParaRPr lang="en-US" sz="22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lang="en-US" sz="2200" b="0" dirty="0">
                <a:solidFill>
                  <a:srgbClr val="222222"/>
                </a:solidFill>
                <a:latin typeface="Arial"/>
              </a:rPr>
              <a:t>D</a:t>
            </a:r>
            <a:r>
              <a:rPr sz="2200" b="0" dirty="0">
                <a:solidFill>
                  <a:srgbClr val="222222"/>
                </a:solidFill>
                <a:latin typeface="Arial"/>
              </a:rPr>
              <a:t>istributions</a:t>
            </a:r>
            <a:r>
              <a:rPr lang="en-US" sz="2200" dirty="0">
                <a:solidFill>
                  <a:srgbClr val="222222"/>
                </a:solidFill>
                <a:latin typeface="Arial"/>
              </a:rPr>
              <a:t> shift?</a:t>
            </a:r>
            <a:r>
              <a:rPr sz="2200" b="0" dirty="0">
                <a:solidFill>
                  <a:srgbClr val="222222"/>
                </a:solidFill>
                <a:latin typeface="Arial"/>
              </a:rPr>
              <a:t> </a:t>
            </a:r>
            <a:endParaRPr lang="en-US" sz="22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lang="en-US" sz="2200" dirty="0">
                <a:solidFill>
                  <a:srgbClr val="222222"/>
                </a:solidFill>
                <a:latin typeface="Arial"/>
              </a:rPr>
              <a:t>M</a:t>
            </a:r>
            <a:r>
              <a:rPr sz="2200" b="0" dirty="0">
                <a:solidFill>
                  <a:srgbClr val="222222"/>
                </a:solidFill>
                <a:latin typeface="Arial"/>
              </a:rPr>
              <a:t>issingness</a:t>
            </a:r>
            <a:r>
              <a:rPr lang="en-US" sz="2200" dirty="0">
                <a:solidFill>
                  <a:srgbClr val="222222"/>
                </a:solidFill>
                <a:latin typeface="Arial"/>
              </a:rPr>
              <a:t>?</a:t>
            </a: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lang="en-US" sz="2200" dirty="0">
                <a:solidFill>
                  <a:srgbClr val="222222"/>
                </a:solidFill>
                <a:latin typeface="Arial"/>
              </a:rPr>
              <a:t>O</a:t>
            </a:r>
            <a:r>
              <a:rPr sz="2200" b="0" dirty="0">
                <a:solidFill>
                  <a:srgbClr val="222222"/>
                </a:solidFill>
                <a:latin typeface="Arial"/>
              </a:rPr>
              <a:t>utliers</a:t>
            </a:r>
            <a:r>
              <a:rPr lang="en-US" sz="2200" b="0" dirty="0">
                <a:solidFill>
                  <a:srgbClr val="222222"/>
                </a:solidFill>
                <a:latin typeface="Arial"/>
              </a:rPr>
              <a:t>?</a:t>
            </a: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lang="en-US" sz="2200" dirty="0">
                <a:solidFill>
                  <a:srgbClr val="222222"/>
                </a:solidFill>
                <a:latin typeface="Arial"/>
              </a:rPr>
              <a:t>Skewness?</a:t>
            </a:r>
            <a:endParaRPr lang="en-US" sz="22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lang="en-US" sz="2200" b="0" dirty="0">
                <a:solidFill>
                  <a:srgbClr val="222222"/>
                </a:solidFill>
                <a:latin typeface="Arial"/>
              </a:rPr>
              <a:t>Other patterns?</a:t>
            </a:r>
            <a:endParaRPr sz="2200" b="0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566160" cy="4434840"/>
          </a:xfrm>
          <a:prstGeom prst="roundRect">
            <a:avLst/>
          </a:prstGeom>
          <a:solidFill>
            <a:srgbClr val="EFF6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1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A6FBB"/>
                </a:solidFill>
                <a:latin typeface="Arial"/>
              </a:rPr>
              <a:t>Core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2235708"/>
            <a:ext cx="3236976" cy="21047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Histograms,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lang="en-US" sz="2100" dirty="0">
                <a:solidFill>
                  <a:srgbClr val="222222"/>
                </a:solidFill>
                <a:latin typeface="Arial"/>
              </a:rPr>
              <a:t>B</a:t>
            </a:r>
            <a:r>
              <a:rPr sz="2100" b="0" dirty="0">
                <a:solidFill>
                  <a:srgbClr val="222222"/>
                </a:solidFill>
                <a:latin typeface="Arial"/>
              </a:rPr>
              <a:t>oxplots,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lang="en-US" sz="2100" dirty="0">
                <a:solidFill>
                  <a:srgbClr val="222222"/>
                </a:solidFill>
                <a:latin typeface="Arial"/>
              </a:rPr>
              <a:t>-   S</a:t>
            </a:r>
            <a:r>
              <a:rPr sz="2100" b="0" dirty="0">
                <a:solidFill>
                  <a:srgbClr val="222222"/>
                </a:solidFill>
                <a:latin typeface="Arial"/>
              </a:rPr>
              <a:t>catter plots,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lang="en-US" sz="2100" dirty="0">
                <a:solidFill>
                  <a:srgbClr val="222222"/>
                </a:solidFill>
                <a:latin typeface="Arial"/>
              </a:rPr>
              <a:t>Density plots,</a:t>
            </a: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lang="en-US" sz="2100" dirty="0">
                <a:solidFill>
                  <a:srgbClr val="222222"/>
                </a:solidFill>
                <a:latin typeface="Arial"/>
              </a:rPr>
              <a:t>-  Summary statistics</a:t>
            </a:r>
            <a:r>
              <a:rPr sz="2100" b="0" dirty="0">
                <a:solidFill>
                  <a:srgbClr val="222222"/>
                </a:solidFill>
                <a:latin typeface="Arial"/>
              </a:rPr>
              <a:t>,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91840" cy="4434840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9912" y="1545336"/>
            <a:ext cx="2962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87D3C"/>
                </a:solidFill>
                <a:latin typeface="Arial"/>
              </a:rPr>
              <a:t>Keep in mind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1938528"/>
            <a:ext cx="2962656" cy="21047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endParaRPr lang="en-US" sz="210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Plot choice depends on variable types. Always check what the plotting function dropped.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494A6-CEB0-06ED-20E3-029E5A34D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5D53DB-99AA-0767-3D80-5D4169C71C85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2: Exploratory Data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8C0178-08EA-8C9C-7104-49012EABE756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1604648-4B51-421F-EEF0-5D51268CF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22" y="1221709"/>
            <a:ext cx="10178548" cy="473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0685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Practice 2: skew and log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ractice_skew_log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1480185"/>
            <a:ext cx="6766560" cy="389762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43800" y="1508760"/>
            <a:ext cx="4069080" cy="384048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08392" y="1636776"/>
            <a:ext cx="37398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C1515"/>
                </a:solidFill>
                <a:latin typeface="Arial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08392" y="2148840"/>
            <a:ext cx="3739896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dirty="0">
                <a:solidFill>
                  <a:srgbClr val="222222"/>
                </a:solidFill>
                <a:latin typeface="Arial"/>
              </a:rPr>
              <a:t>What changes when we plot the variable on a log scale?
What would be misleading on the raw scale?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Practice 2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0100" y="1460062"/>
            <a:ext cx="10424160" cy="3611880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1636776"/>
            <a:ext cx="10094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dirty="0">
                <a:solidFill>
                  <a:srgbClr val="287D3C"/>
                </a:solidFill>
                <a:latin typeface="Arial"/>
              </a:rPr>
              <a:t>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426138"/>
            <a:ext cx="10094976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 dirty="0">
                <a:solidFill>
                  <a:srgbClr val="222222"/>
                </a:solidFill>
                <a:latin typeface="Arial"/>
              </a:rPr>
              <a:t>The raw-scale histogram hides most observations near zero and exaggerates a long right tail.
The log scale reveals the body of the distribution and makes multiplicative differences easier to see.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3: Data munging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6298" y="1417320"/>
            <a:ext cx="10620862" cy="5026010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475586" y="1555968"/>
            <a:ext cx="2962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dirty="0">
                <a:solidFill>
                  <a:srgbClr val="287D3C"/>
                </a:solidFill>
                <a:latin typeface="Arial"/>
              </a:rPr>
              <a:t>Keep in mind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3729" y="1987224"/>
            <a:ext cx="9906000" cy="39479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000" b="1" dirty="0"/>
              <a:t>Data munging: </a:t>
            </a:r>
            <a:r>
              <a:rPr lang="en-US" sz="2000" dirty="0"/>
              <a:t> </a:t>
            </a:r>
          </a:p>
          <a:p>
            <a:pPr>
              <a:lnSpc>
                <a:spcPct val="105000"/>
              </a:lnSpc>
            </a:pPr>
            <a:r>
              <a:rPr lang="en-US" sz="2000" dirty="0"/>
              <a:t>The process of cleaning, transforming, and preparing raw data for analysis. Every cleaning choice is a decision that changes your conclusions — there is no “neutral” default.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222222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US" sz="2000" b="1" dirty="0"/>
              <a:t>Missingness encodings:</a:t>
            </a:r>
          </a:p>
          <a:p>
            <a:pPr marL="285750" indent="-285750">
              <a:lnSpc>
                <a:spcPct val="105000"/>
              </a:lnSpc>
              <a:buFontTx/>
              <a:buChar char="-"/>
            </a:pPr>
            <a:r>
              <a:rPr lang="en-US" sz="2000" b="1" dirty="0"/>
              <a:t>MCAR</a:t>
            </a:r>
            <a:r>
              <a:rPr lang="en-US" sz="2000" dirty="0"/>
              <a:t> (unrelated to any variable),</a:t>
            </a:r>
          </a:p>
          <a:p>
            <a:pPr marL="285750" indent="-285750">
              <a:lnSpc>
                <a:spcPct val="105000"/>
              </a:lnSpc>
              <a:buFontTx/>
              <a:buChar char="-"/>
            </a:pPr>
            <a:r>
              <a:rPr lang="en-US" sz="2000" b="1" dirty="0"/>
              <a:t>MAR</a:t>
            </a:r>
            <a:r>
              <a:rPr lang="en-US" sz="2000" dirty="0"/>
              <a:t> (depends on observed variables only), </a:t>
            </a:r>
          </a:p>
          <a:p>
            <a:pPr marL="285750" indent="-285750">
              <a:lnSpc>
                <a:spcPct val="105000"/>
              </a:lnSpc>
              <a:buFontTx/>
              <a:buChar char="-"/>
            </a:pPr>
            <a:r>
              <a:rPr lang="en-US" sz="2000" b="1" dirty="0"/>
              <a:t>MNAR</a:t>
            </a:r>
            <a:r>
              <a:rPr lang="en-US" sz="2000" dirty="0"/>
              <a:t> (depends on the unobserved value itself)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222222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222222"/>
                </a:solidFill>
                <a:latin typeface="Arial"/>
              </a:rPr>
              <a:t>Missingness can be informative.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222222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222222"/>
                </a:solidFill>
                <a:latin typeface="Arial"/>
              </a:rPr>
              <a:t>How to deal with missingness?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4A726-2C6F-C1C9-7056-28FD17E90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55D2A5-BE59-BE9B-38A5-7F586C9A7255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3: Data munging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FDAEB4-76DC-48D9-0E0A-81842FDE05F5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D185BF-04E5-6F43-322E-2FA0C4A5C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19556"/>
            <a:ext cx="9551434" cy="570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334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7B26D-A5A8-829A-4E0A-DCED821DC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4B276E-DDA8-1BCB-7248-D02699999BAB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3: Data munging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00FBC6-4F24-8B5B-1AAC-8F4C1B09E8E8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8B6305-4EAE-43C9-A853-A9BE23F43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65" y="1365398"/>
            <a:ext cx="8116186" cy="500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9022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Practice 3: missingness audit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57800" cy="448056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545336"/>
            <a:ext cx="49286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C1515"/>
                </a:solidFill>
                <a:latin typeface="Arial"/>
              </a:rPr>
              <a:t>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38528"/>
            <a:ext cx="4928616" cy="2655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dirty="0">
                <a:solidFill>
                  <a:srgbClr val="222222"/>
                </a:solidFill>
                <a:latin typeface="Arial"/>
              </a:rPr>
              <a:t>A dataset has 10,000 schools.</a:t>
            </a:r>
            <a:r>
              <a:rPr lang="en-US" sz="2000" dirty="0">
                <a:solidFill>
                  <a:srgbClr val="222222"/>
                </a:solidFill>
                <a:latin typeface="Arial"/>
              </a:rPr>
              <a:t> </a:t>
            </a:r>
            <a:r>
              <a:rPr sz="2000" b="0" dirty="0">
                <a:solidFill>
                  <a:srgbClr val="222222"/>
                </a:solidFill>
                <a:latin typeface="Arial"/>
              </a:rPr>
              <a:t>Only 1,200 have SAT and earnings data.
An analyst drops the other 8,800 rows and fits a model.
What should you ask before trusting the result?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4983480" cy="4480560"/>
          </a:xfrm>
          <a:prstGeom prst="roundRect">
            <a:avLst/>
          </a:prstGeom>
          <a:solidFill>
            <a:srgbClr val="EFF6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3952" y="1545336"/>
            <a:ext cx="46542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A6FBB"/>
                </a:solidFill>
                <a:latin typeface="Arial"/>
              </a:rPr>
              <a:t>Think about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182128"/>
            <a:ext cx="4654296" cy="16857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dirty="0">
                <a:solidFill>
                  <a:srgbClr val="222222"/>
                </a:solidFill>
                <a:latin typeface="Arial"/>
              </a:rPr>
              <a:t>Are the missing rows random?
Which school types disappear?
Does the target population change?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Practice 3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8680" y="1508760"/>
            <a:ext cx="10424160" cy="3611880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1636776"/>
            <a:ext cx="10094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287D3C"/>
                </a:solidFill>
                <a:latin typeface="Arial"/>
              </a:rPr>
              <a:t>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8512" y="2276856"/>
            <a:ext cx="10094976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>
                <a:solidFill>
                  <a:srgbClr val="222222"/>
                </a:solidFill>
                <a:latin typeface="Arial"/>
              </a:rPr>
              <a:t>Ask whether complete cases represent the population you care about.
If missingness excludes community colleges, for-profit schools, or less selective schools, the model describes a selected subset, not all institutions.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4: From the mean to simple regression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566160" cy="443484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C1515"/>
                </a:solidFill>
                <a:latin typeface="Arial"/>
              </a:rPr>
              <a:t>Main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" y="2235708"/>
            <a:ext cx="3371088" cy="29783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dirty="0">
                <a:solidFill>
                  <a:srgbClr val="222222"/>
                </a:solidFill>
                <a:latin typeface="Arial"/>
              </a:rPr>
              <a:t>Regression projects y onto a </a:t>
            </a:r>
            <a:r>
              <a:rPr lang="en-US" sz="2000" b="0" dirty="0">
                <a:solidFill>
                  <a:srgbClr val="222222"/>
                </a:solidFill>
                <a:latin typeface="Arial"/>
              </a:rPr>
              <a:t>linear space</a:t>
            </a:r>
            <a:r>
              <a:rPr sz="2000" b="0" dirty="0">
                <a:solidFill>
                  <a:srgbClr val="222222"/>
                </a:solidFill>
                <a:latin typeface="Arial"/>
              </a:rPr>
              <a:t> built from x. The residuals are what the line misses.</a:t>
            </a:r>
            <a:endParaRPr lang="en-US" sz="2000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endParaRPr lang="en-US" sz="200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lang="en-US" sz="2000" b="0" dirty="0">
                <a:solidFill>
                  <a:srgbClr val="222222"/>
                </a:solidFill>
                <a:latin typeface="Arial"/>
              </a:rPr>
              <a:t>Assumptions behind the linear regression ?</a:t>
            </a:r>
          </a:p>
          <a:p>
            <a:pPr algn="l">
              <a:lnSpc>
                <a:spcPct val="105000"/>
              </a:lnSpc>
            </a:pPr>
            <a:r>
              <a:rPr lang="en-US" sz="2000" b="0" dirty="0">
                <a:solidFill>
                  <a:srgbClr val="222222"/>
                </a:solidFill>
                <a:latin typeface="Arial"/>
              </a:rPr>
              <a:t>(more in regression diagnosis)</a:t>
            </a:r>
            <a:endParaRPr sz="2000" b="0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566160" cy="4434840"/>
          </a:xfrm>
          <a:prstGeom prst="roundRect">
            <a:avLst/>
          </a:prstGeom>
          <a:solidFill>
            <a:srgbClr val="EFF6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1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A6FBB"/>
                </a:solidFill>
                <a:latin typeface="Arial"/>
              </a:rPr>
              <a:t>Core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1938528"/>
            <a:ext cx="3236976" cy="36397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dirty="0">
                <a:solidFill>
                  <a:srgbClr val="222222"/>
                </a:solidFill>
                <a:latin typeface="Arial"/>
              </a:rPr>
              <a:t>Correlation, </a:t>
            </a:r>
            <a:endParaRPr lang="en-US" sz="2000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endParaRPr lang="en-US" sz="2000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000" b="0" dirty="0">
                <a:solidFill>
                  <a:srgbClr val="222222"/>
                </a:solidFill>
                <a:latin typeface="Arial"/>
              </a:rPr>
              <a:t>least squares, </a:t>
            </a:r>
            <a:endParaRPr lang="en-US" sz="2000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endParaRPr lang="en-US" sz="2000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000" b="0" dirty="0">
                <a:solidFill>
                  <a:srgbClr val="222222"/>
                </a:solidFill>
                <a:latin typeface="Arial"/>
              </a:rPr>
              <a:t>residuals, </a:t>
            </a:r>
            <a:endParaRPr lang="en-US" sz="2000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endParaRPr lang="en-US" sz="2000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000" b="0" dirty="0">
                <a:solidFill>
                  <a:srgbClr val="222222"/>
                </a:solidFill>
                <a:latin typeface="Arial"/>
              </a:rPr>
              <a:t>R², </a:t>
            </a:r>
            <a:endParaRPr lang="en-US" sz="2000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endParaRPr lang="en-US" sz="2000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000" b="0" dirty="0">
                <a:solidFill>
                  <a:srgbClr val="222222"/>
                </a:solidFill>
                <a:latin typeface="Arial"/>
              </a:rPr>
              <a:t>projection, </a:t>
            </a:r>
            <a:endParaRPr lang="en-US" sz="2000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endParaRPr lang="en-US" sz="2000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000" b="0" dirty="0">
                <a:solidFill>
                  <a:srgbClr val="222222"/>
                </a:solidFill>
                <a:latin typeface="Arial"/>
              </a:rPr>
              <a:t>regression to the mean</a:t>
            </a:r>
            <a:r>
              <a:rPr sz="2100" b="0" dirty="0">
                <a:solidFill>
                  <a:srgbClr val="222222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91840" cy="4434840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9912" y="1545336"/>
            <a:ext cx="2962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87D3C"/>
                </a:solidFill>
                <a:latin typeface="Arial"/>
              </a:rPr>
              <a:t>Keep in mind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2061383"/>
            <a:ext cx="2962656" cy="1426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A slope is an association unless the design justifies causality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E79FE-EDB0-F273-DB27-853D6C71D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11F334-5055-3449-1249-E96BA6EF7C73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4: From the mean to simple regression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A277E4-FDB8-2FAE-C7EF-4A7963BD5721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2DB5D3-80FC-D950-16ED-5211712DCBFF}"/>
              </a:ext>
            </a:extLst>
          </p:cNvPr>
          <p:cNvSpPr txBox="1"/>
          <p:nvPr/>
        </p:nvSpPr>
        <p:spPr>
          <a:xfrm>
            <a:off x="510363" y="1244010"/>
            <a:ext cx="6054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Geometric interpretation of linear regression?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7AF82D7-CC69-FB52-E8AA-32FECAA3D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000" y="1930129"/>
            <a:ext cx="5647614" cy="457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7419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E795C-DA46-B47C-1D50-C4F588EA9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7663EF-C138-5C7A-1E37-71D9D9ACF572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4: From the mean to simple regression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47A772-E1A8-2552-A1A6-1C1697B98E87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92FB03-CE5E-5EEA-7D8D-30266E5E47EA}"/>
              </a:ext>
            </a:extLst>
          </p:cNvPr>
          <p:cNvSpPr txBox="1"/>
          <p:nvPr/>
        </p:nvSpPr>
        <p:spPr>
          <a:xfrm>
            <a:off x="127591" y="1136249"/>
            <a:ext cx="6054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Geometric interpretation of linear regression?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4993FF0-1750-FE50-C393-B8B1C3CFB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217" y="2172151"/>
            <a:ext cx="5217280" cy="44482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21C9F74-AAC5-ABB7-517E-56FD13A303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97914"/>
            <a:ext cx="7772400" cy="18718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16283D-A011-107C-DD98-F5CE3312CB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85322"/>
            <a:ext cx="6733599" cy="303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6101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Practice 4: regression to the mean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86130" y="1508760"/>
            <a:ext cx="5626750" cy="384048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08392" y="1636776"/>
            <a:ext cx="37398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C1515"/>
                </a:solidFill>
                <a:latin typeface="Arial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2029967"/>
            <a:ext cx="5352288" cy="36202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000" dirty="0"/>
              <a:t>The plot below shows child height vs. average parent height for a sample of families. Two lines are overlaid: </a:t>
            </a:r>
            <a:r>
              <a:rPr lang="en-US" sz="2000" b="1" dirty="0"/>
              <a:t>Line A</a:t>
            </a:r>
            <a:r>
              <a:rPr lang="en-US" sz="2000" dirty="0"/>
              <a:t> (gray) and </a:t>
            </a:r>
            <a:r>
              <a:rPr lang="en-US" sz="2000" b="1" dirty="0"/>
              <a:t>Line B</a:t>
            </a:r>
            <a:r>
              <a:rPr lang="en-US" sz="2000" dirty="0"/>
              <a:t> (red).</a:t>
            </a:r>
          </a:p>
          <a:p>
            <a:pPr>
              <a:lnSpc>
                <a:spcPct val="105000"/>
              </a:lnSpc>
            </a:pPr>
            <a:endParaRPr lang="en-US" sz="2800" b="0" dirty="0">
              <a:solidFill>
                <a:srgbClr val="222222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US" sz="2000" dirty="0"/>
              <a:t>Which line is the regression line of child on parent, and which is y = x ?</a:t>
            </a:r>
          </a:p>
          <a:p>
            <a:pPr>
              <a:lnSpc>
                <a:spcPct val="105000"/>
              </a:lnSpc>
            </a:pPr>
            <a:endParaRPr lang="en-US" sz="2800" b="0" dirty="0">
              <a:solidFill>
                <a:srgbClr val="222222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US" sz="2000" dirty="0"/>
              <a:t>What does the relative slope of the two lines reveal about heights across generations?</a:t>
            </a:r>
          </a:p>
          <a:p>
            <a:pPr>
              <a:lnSpc>
                <a:spcPct val="105000"/>
              </a:lnSpc>
            </a:pPr>
            <a:endParaRPr sz="2400" b="0" dirty="0">
              <a:solidFill>
                <a:srgbClr val="222222"/>
              </a:solidFill>
              <a:latin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5D5D3-D429-F78D-F427-F34C16496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1392"/>
            <a:ext cx="509270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Practice 4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2E7B6B-1F51-DB5E-E782-C6481360E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3" y="1605622"/>
            <a:ext cx="12099014" cy="294022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5: Multiple regression + 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566160" cy="443484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C1515"/>
                </a:solidFill>
                <a:latin typeface="Arial"/>
              </a:rPr>
              <a:t>Main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938528"/>
            <a:ext cx="323697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222222"/>
                </a:solidFill>
                <a:latin typeface="Arial"/>
              </a:rPr>
              <a:t>Coefficients are conditional: “holding the other model variables fixed.”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566160" cy="4434840"/>
          </a:xfrm>
          <a:prstGeom prst="roundRect">
            <a:avLst/>
          </a:prstGeom>
          <a:solidFill>
            <a:srgbClr val="EFF6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1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A6FBB"/>
                </a:solidFill>
                <a:latin typeface="Arial"/>
              </a:rPr>
              <a:t>Core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1938528"/>
            <a:ext cx="3236976" cy="31227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One-hot encoding,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lang="en-US" sz="2100" dirty="0">
                <a:solidFill>
                  <a:srgbClr val="222222"/>
                </a:solidFill>
                <a:latin typeface="Arial"/>
              </a:rPr>
              <a:t>I</a:t>
            </a:r>
            <a:r>
              <a:rPr sz="2100" b="0" dirty="0">
                <a:solidFill>
                  <a:srgbClr val="222222"/>
                </a:solidFill>
                <a:latin typeface="Arial"/>
              </a:rPr>
              <a:t>nteractions,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lang="en-US" sz="2100" dirty="0">
                <a:solidFill>
                  <a:srgbClr val="222222"/>
                </a:solidFill>
                <a:latin typeface="Arial"/>
              </a:rPr>
              <a:t>T</a:t>
            </a:r>
            <a:r>
              <a:rPr sz="2100" b="0" dirty="0">
                <a:solidFill>
                  <a:srgbClr val="222222"/>
                </a:solidFill>
                <a:latin typeface="Arial"/>
              </a:rPr>
              <a:t>ransformations,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log outcomes,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adjusted R².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91840" cy="4434840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9912" y="1545336"/>
            <a:ext cx="2962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87D3C"/>
                </a:solidFill>
                <a:latin typeface="Arial"/>
              </a:rPr>
              <a:t>Keep in mind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1938528"/>
            <a:ext cx="296265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Feature engineering changes the question. Interactions say one effect depends on another variable.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5E20-0395-F12F-26EC-17F9B6443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8FF558-31FE-6C10-FB77-6718F37EAFF9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5: Multiple regression + feature engineering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C31D64-5149-8A7C-87C4-D725D6909DD6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5662CED-CDB2-159A-B1DC-BF12006B4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36" y="2111375"/>
            <a:ext cx="8759524" cy="42726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6497557-17C2-0B7C-47A2-2713EE53196B}"/>
              </a:ext>
            </a:extLst>
          </p:cNvPr>
          <p:cNvSpPr txBox="1"/>
          <p:nvPr/>
        </p:nvSpPr>
        <p:spPr>
          <a:xfrm>
            <a:off x="411480" y="1334633"/>
            <a:ext cx="2295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Transformation: </a:t>
            </a:r>
          </a:p>
        </p:txBody>
      </p:sp>
    </p:spTree>
    <p:extLst>
      <p:ext uri="{BB962C8B-B14F-4D97-AF65-F5344CB8AC3E}">
        <p14:creationId xmlns:p14="http://schemas.microsoft.com/office/powerpoint/2010/main" val="457955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B481D-949C-0482-6628-E81A3E484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0B6E78-2C7E-2B28-2DA0-7DC4B3C26BA6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5: Multiple regression + feature engineering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004FC6-6DC2-B6CB-2A61-E69D24F835AF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20B1CA-1E5E-3A7B-F93A-379C002596CA}"/>
              </a:ext>
            </a:extLst>
          </p:cNvPr>
          <p:cNvSpPr txBox="1"/>
          <p:nvPr/>
        </p:nvSpPr>
        <p:spPr>
          <a:xfrm>
            <a:off x="733647" y="1509823"/>
            <a:ext cx="4348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Adding more features?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299EE9-5035-A57E-1636-271C98FC25C4}"/>
              </a:ext>
            </a:extLst>
          </p:cNvPr>
          <p:cNvSpPr txBox="1"/>
          <p:nvPr/>
        </p:nvSpPr>
        <p:spPr>
          <a:xfrm>
            <a:off x="733647" y="2200940"/>
            <a:ext cx="58479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What can go wrong if we ignore the intercept? 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Adjusted R square?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CA34F4-1BFA-D1DF-C86F-BBD2DB44C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913" y="3353722"/>
            <a:ext cx="7772400" cy="273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8940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0B01C-1F9A-06DA-1A58-46E335D77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B48A56-F45E-A7DE-50EC-68EBDA5FE346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5: Multiple regression + feature engineering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8BDD8D-BFD1-F365-20CE-1548308338F1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118751-00E1-3605-A623-66FB754CA730}"/>
              </a:ext>
            </a:extLst>
          </p:cNvPr>
          <p:cNvSpPr txBox="1"/>
          <p:nvPr/>
        </p:nvSpPr>
        <p:spPr>
          <a:xfrm>
            <a:off x="411480" y="1120140"/>
            <a:ext cx="4348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Residual diagnosis?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EB5CB4-91E0-9888-709A-AB2E0C10F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5994"/>
            <a:ext cx="4126779" cy="31062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7663DD-CF7C-319E-67C3-256FE2EE9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610" y="2032353"/>
            <a:ext cx="4126779" cy="32935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7E0008D-BCE4-6908-2228-04D7CF483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9573" y="2125994"/>
            <a:ext cx="4112426" cy="310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7997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0DBD8-A41E-B6B0-A029-AE0B90EDB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829AC0-2A9B-31FE-BAAB-CF6DDE51B9BD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5: Multiple regression + feature engineering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8A0D44-9BB3-58A3-3AD8-BC72857659B9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FDB240-B40B-12D1-D7A0-42DF776D8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" y="1449277"/>
            <a:ext cx="8688453" cy="325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5197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Practice 5: residual diagnostics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ractice_residual_f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766560" cy="4800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43800" y="1508760"/>
            <a:ext cx="4069080" cy="384048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08392" y="1636776"/>
            <a:ext cx="37398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C1515"/>
                </a:solidFill>
                <a:latin typeface="Arial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08392" y="2029967"/>
            <a:ext cx="3739896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dirty="0">
                <a:solidFill>
                  <a:srgbClr val="222222"/>
                </a:solidFill>
                <a:latin typeface="Arial"/>
              </a:rPr>
              <a:t>The residuals widen as fitted values grow.
Which assumption is questionable?
What might you try next?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Practice 5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8680" y="1508760"/>
            <a:ext cx="10424160" cy="3611880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1636776"/>
            <a:ext cx="10094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287D3C"/>
                </a:solidFill>
                <a:latin typeface="Arial"/>
              </a:rPr>
              <a:t>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029967"/>
            <a:ext cx="10094976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>
                <a:solidFill>
                  <a:srgbClr val="222222"/>
                </a:solidFill>
                <a:latin typeface="Arial"/>
              </a:rPr>
              <a:t>The equal-variance assumption is questionable: residual spread grows with the fitted value.
Possible fixes: transform the outcome, use robust standard errors, model variance, or check whether important subgroups are missing.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6: Validation and bias–variance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566160" cy="443484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C1515"/>
                </a:solidFill>
                <a:latin typeface="Arial"/>
              </a:rPr>
              <a:t>Main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938528"/>
            <a:ext cx="323697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222222"/>
                </a:solidFill>
                <a:latin typeface="Arial"/>
              </a:rPr>
              <a:t>Training performance is not deployment performance. Validation estimates generalization.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566160" cy="4434840"/>
          </a:xfrm>
          <a:prstGeom prst="roundRect">
            <a:avLst/>
          </a:prstGeom>
          <a:solidFill>
            <a:srgbClr val="EFF6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1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A6FBB"/>
                </a:solidFill>
                <a:latin typeface="Arial"/>
              </a:rPr>
              <a:t>Core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1938528"/>
            <a:ext cx="3236976" cy="38013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Train/test split,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>
              <a:lnSpc>
                <a:spcPct val="105000"/>
              </a:lnSpc>
              <a:buFontTx/>
              <a:buChar char="-"/>
            </a:pPr>
            <a:r>
              <a:rPr lang="en-US" sz="2100" dirty="0">
                <a:solidFill>
                  <a:srgbClr val="222222"/>
                </a:solidFill>
                <a:latin typeface="Arial"/>
              </a:rPr>
              <a:t>validation sets</a:t>
            </a:r>
            <a:r>
              <a:rPr sz="2100" b="0" dirty="0">
                <a:solidFill>
                  <a:srgbClr val="222222"/>
                </a:solidFill>
                <a:latin typeface="Arial"/>
              </a:rPr>
              <a:t>,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k-fold CV,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regularization,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 ridge/lasso,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bias–variance tradeoff.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91840" cy="4434840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9912" y="1545336"/>
            <a:ext cx="2962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87D3C"/>
                </a:solidFill>
                <a:latin typeface="Arial"/>
              </a:rPr>
              <a:t>Keep in mind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1938528"/>
            <a:ext cx="296265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>
                <a:solidFill>
                  <a:srgbClr val="222222"/>
                </a:solidFill>
                <a:latin typeface="Arial"/>
              </a:rPr>
              <a:t>Never use the test set for tuning. Random splits do not protect against distribution shift.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FB097-DC3E-A77F-B8A5-D2FF836CF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A520FC-0FC9-7273-4CDE-F9D343F050D6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6: Validation and bias–variance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CAE4AB-5B83-3342-66A4-FC9E1842EE79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061801-6113-25D8-4463-5374816607A2}"/>
              </a:ext>
            </a:extLst>
          </p:cNvPr>
          <p:cNvSpPr txBox="1"/>
          <p:nvPr/>
        </p:nvSpPr>
        <p:spPr>
          <a:xfrm>
            <a:off x="765544" y="1403498"/>
            <a:ext cx="8059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underfitting, and what is overfitting?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2A1FEF4-5FBF-CDCC-CD29-1D7AF8BD0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46" y="1968157"/>
            <a:ext cx="10601307" cy="3684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3541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8A680-F42F-C25A-8F2D-BAD551E7D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A54E4C-C697-DBB8-6FE9-2A582459A80F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6: Validation and bias–variance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D27F0E-8BAB-A833-4C58-39F9C4EBB01A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4FA24E-4A8E-D4B3-2E23-3B1D40F172BF}"/>
              </a:ext>
            </a:extLst>
          </p:cNvPr>
          <p:cNvSpPr txBox="1"/>
          <p:nvPr/>
        </p:nvSpPr>
        <p:spPr>
          <a:xfrm>
            <a:off x="765544" y="1403498"/>
            <a:ext cx="80594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How to fix them?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E66D82-B5A1-D03A-A8C6-13C26D6FA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44" y="2004090"/>
            <a:ext cx="7772400" cy="429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130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510A7-D946-61D6-BD2D-3767FE880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157DF8-E6B2-F747-BB5A-E7F58790F68E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6: Validation and bias–variance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6B3627-9AC5-6934-E98E-C8661A2C61AB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63D93D-5FDE-0000-D0B2-2A7B7AF0BD44}"/>
              </a:ext>
            </a:extLst>
          </p:cNvPr>
          <p:cNvSpPr txBox="1"/>
          <p:nvPr/>
        </p:nvSpPr>
        <p:spPr>
          <a:xfrm>
            <a:off x="765544" y="1403498"/>
            <a:ext cx="80594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Train, Validation, Test set?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E57B2B-804F-1658-C58D-4D0949907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44" y="1894367"/>
            <a:ext cx="8420986" cy="18444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ECE34F-9BAB-F97C-C5E5-5C17BA5DAD3A}"/>
              </a:ext>
            </a:extLst>
          </p:cNvPr>
          <p:cNvSpPr txBox="1"/>
          <p:nvPr/>
        </p:nvSpPr>
        <p:spPr>
          <a:xfrm>
            <a:off x="765543" y="4033284"/>
            <a:ext cx="805947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Examples of data leakage?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Doing standardization?  </a:t>
            </a:r>
          </a:p>
          <a:p>
            <a:pPr marL="342900" indent="-342900">
              <a:buFontTx/>
              <a:buChar char="-"/>
            </a:pPr>
            <a:endParaRPr lang="en-US" sz="2000" dirty="0"/>
          </a:p>
          <a:p>
            <a:endParaRPr lang="en-US" sz="2000" b="1" dirty="0"/>
          </a:p>
          <a:p>
            <a:r>
              <a:rPr lang="en-US" sz="2000" b="1" dirty="0"/>
              <a:t>Cross-validation, but why?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477114-784A-C8F9-29D4-BF9C82A22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535" y="3510308"/>
            <a:ext cx="5699572" cy="323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566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A643E-CF5C-72DA-5E51-0BD9DEC6C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07FAC8-379E-2FC5-9E91-F464BC97B34C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6: Validation and bias–variance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333596-9D86-C7AA-0A7A-82858CDD567F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639889-0A3F-5EBE-6FDF-368642F15CFD}"/>
              </a:ext>
            </a:extLst>
          </p:cNvPr>
          <p:cNvSpPr txBox="1"/>
          <p:nvPr/>
        </p:nvSpPr>
        <p:spPr>
          <a:xfrm>
            <a:off x="765544" y="1403498"/>
            <a:ext cx="80594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Regularization?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8156ED-BEE1-C7D3-C04D-1FB751C03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022" y="2187550"/>
            <a:ext cx="7772400" cy="339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1899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AFDE5-EC40-6304-9C93-69BD76CF7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B275EC-3AA1-CAAD-35D0-5D5D0E6C13B8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6: Validation and bias–variance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A963A9-2D93-85E7-C807-FD02AB84407C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80A0D9-97CC-79FA-3141-AF858B510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94" y="1473233"/>
            <a:ext cx="7772400" cy="391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0862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Practice 6: validation curve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ractice_valida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766560" cy="4800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43800" y="1508760"/>
            <a:ext cx="4069080" cy="384048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08392" y="1636776"/>
            <a:ext cx="37398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C1515"/>
                </a:solidFill>
                <a:latin typeface="Arial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08392" y="2029967"/>
            <a:ext cx="3739896" cy="2779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dirty="0">
                <a:solidFill>
                  <a:srgbClr val="222222"/>
                </a:solidFill>
                <a:latin typeface="Arial"/>
              </a:rPr>
              <a:t>Where is the model underfitting?</a:t>
            </a:r>
            <a:endParaRPr lang="en-US" sz="2400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400" b="0" dirty="0">
                <a:solidFill>
                  <a:srgbClr val="222222"/>
                </a:solidFill>
                <a:latin typeface="Arial"/>
              </a:rPr>
              <a:t>
Where is it overfitting?</a:t>
            </a:r>
            <a:endParaRPr lang="en-US" sz="2400" b="0" dirty="0">
              <a:solidFill>
                <a:srgbClr val="222222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2400" b="0" dirty="0">
                <a:solidFill>
                  <a:srgbClr val="222222"/>
                </a:solidFill>
                <a:latin typeface="Arial"/>
              </a:rPr>
              <a:t>
Which complexity would you choose?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Practice 6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8680" y="1508760"/>
            <a:ext cx="10424160" cy="3611880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1636776"/>
            <a:ext cx="10094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287D3C"/>
                </a:solidFill>
                <a:latin typeface="Arial"/>
              </a:rPr>
              <a:t>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029967"/>
            <a:ext cx="10094976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>
                <a:solidFill>
                  <a:srgbClr val="222222"/>
                </a:solidFill>
                <a:latin typeface="Arial"/>
              </a:rPr>
              <a:t>Low complexity underfits: both losses are high.
High complexity overfits: training loss keeps falling while validation loss rises.
Choose near the minimum validation loss, not the minimum training loss.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7: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566160" cy="443484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C1515"/>
                </a:solidFill>
                <a:latin typeface="Arial"/>
              </a:rPr>
              <a:t>Main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938528"/>
            <a:ext cx="323697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222222"/>
                </a:solidFill>
                <a:latin typeface="Arial"/>
              </a:rPr>
              <a:t>Classification converts features into probabilities, then decisions depend on thresholds and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566160" cy="4434840"/>
          </a:xfrm>
          <a:prstGeom prst="roundRect">
            <a:avLst/>
          </a:prstGeom>
          <a:solidFill>
            <a:srgbClr val="EFF6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1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A6FBB"/>
                </a:solidFill>
                <a:latin typeface="Arial"/>
              </a:rPr>
              <a:t>Core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1938528"/>
            <a:ext cx="3236976" cy="38013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Logistic regression,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odds ratios,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confusion matrix,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precision/recall,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ROC/AUC,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calibration.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91840" cy="4434840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9912" y="1545336"/>
            <a:ext cx="2962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87D3C"/>
                </a:solidFill>
                <a:latin typeface="Arial"/>
              </a:rPr>
              <a:t>Keep in mind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1938528"/>
            <a:ext cx="296265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>
                <a:solidFill>
                  <a:srgbClr val="222222"/>
                </a:solidFill>
                <a:latin typeface="Arial"/>
              </a:rPr>
              <a:t>Accuracy can be misleading under imbalance. Threshold choice is a policy decision.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1A18B-FB95-1EE1-F80F-CEAF98ACD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727CDF-D674-84F4-E91E-4EB4E244F16F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7: Classification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E62928-E763-1EED-A98E-B44B821EDBF0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B4562F-0E3D-D9DC-5914-481C343CA222}"/>
              </a:ext>
            </a:extLst>
          </p:cNvPr>
          <p:cNvSpPr txBox="1"/>
          <p:nvPr/>
        </p:nvSpPr>
        <p:spPr>
          <a:xfrm>
            <a:off x="411481" y="1350335"/>
            <a:ext cx="81232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/>
              <a:t>What is a classification task, why this is different from regression? 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What is logistic regression?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A6C0627-37F4-CD2C-9BFA-812A5DA42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356" y="2696777"/>
            <a:ext cx="7772400" cy="201880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16090DA-AA57-ABBA-6325-476C335520E6}"/>
              </a:ext>
            </a:extLst>
          </p:cNvPr>
          <p:cNvSpPr txBox="1"/>
          <p:nvPr/>
        </p:nvSpPr>
        <p:spPr>
          <a:xfrm>
            <a:off x="411480" y="4934176"/>
            <a:ext cx="1003713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/>
              <a:t>What is the problem of logistic regression when the data is perfectly linear separable?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How to solve logistic regression, why can’t just solve like linear regression? 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How to interpret the coefficient from the logistic regression? </a:t>
            </a:r>
          </a:p>
        </p:txBody>
      </p:sp>
    </p:spTree>
    <p:extLst>
      <p:ext uri="{BB962C8B-B14F-4D97-AF65-F5344CB8AC3E}">
        <p14:creationId xmlns:p14="http://schemas.microsoft.com/office/powerpoint/2010/main" val="3205146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A511F-C1C9-D977-780F-D8D694C88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064691-8037-9C9F-21E3-6544C0E5A1BA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7: Classification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DF9055-F671-7F2D-8C16-4409C3041CE1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685694-FB58-7B21-4CC1-95CECB721FF8}"/>
              </a:ext>
            </a:extLst>
          </p:cNvPr>
          <p:cNvSpPr txBox="1"/>
          <p:nvPr/>
        </p:nvSpPr>
        <p:spPr>
          <a:xfrm>
            <a:off x="411481" y="1350335"/>
            <a:ext cx="81232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/>
              <a:t>What is the problem of imbalance class?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 Any metric to use when imbalance class exists?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9E77A5-4670-3629-93C5-7CB410385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18" y="2497717"/>
            <a:ext cx="7772400" cy="30099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601379-B435-9670-0740-55F09A7D92A9}"/>
              </a:ext>
            </a:extLst>
          </p:cNvPr>
          <p:cNvSpPr txBox="1"/>
          <p:nvPr/>
        </p:nvSpPr>
        <p:spPr>
          <a:xfrm>
            <a:off x="411481" y="5745126"/>
            <a:ext cx="8123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/>
              <a:t>How to solve class imbalance? 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51EC52-FD12-F4B2-4408-833A82388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8906" y="1218174"/>
            <a:ext cx="3611613" cy="255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4480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15B07-83A9-950A-1754-8F88BED42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50F930-8748-15D0-CCF7-3F803CC01831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7: Classification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40AE86-5715-F8D2-DE09-BC1458702782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98A1DA-2E74-ADAF-2C51-629F7D93F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99" y="1339997"/>
            <a:ext cx="9355723" cy="319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4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Practice 7: ROC 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ractice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766560" cy="4800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43800" y="1508760"/>
            <a:ext cx="4069080" cy="384048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08392" y="1636776"/>
            <a:ext cx="37398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C1515"/>
                </a:solidFill>
                <a:latin typeface="Arial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08392" y="2029967"/>
            <a:ext cx="3739896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>
                <a:solidFill>
                  <a:srgbClr val="222222"/>
                </a:solidFill>
                <a:latin typeface="Arial"/>
              </a:rPr>
              <a:t>At threshold A, what is high and what is low?
Why might a hospital prefer a different threshold than a marketing team?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Practice 7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8680" y="1508760"/>
            <a:ext cx="10424160" cy="3611880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1636776"/>
            <a:ext cx="10094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287D3C"/>
                </a:solidFill>
                <a:latin typeface="Arial"/>
              </a:rPr>
              <a:t>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029967"/>
            <a:ext cx="10094976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>
                <a:solidFill>
                  <a:srgbClr val="222222"/>
                </a:solidFill>
                <a:latin typeface="Arial"/>
              </a:rPr>
              <a:t>Threshold A has high recall but nonzero false-positive rate.
Different contexts have different costs: missing cancer may be worse than extra follow-up, while spamming customers may be costly.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402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600" b="1">
                <a:solidFill>
                  <a:srgbClr val="FFFFFF"/>
                </a:solidFill>
                <a:latin typeface="Arial"/>
              </a:rPr>
              <a:t>Act 2: Trust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461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0">
                <a:solidFill>
                  <a:srgbClr val="FFFFFF"/>
                </a:solidFill>
                <a:latin typeface="Arial"/>
              </a:rPr>
              <a:t>Uncertainty, tests, multiple comparisons, and diagnostics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8: Bootstrap and normal approximation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566160" cy="443484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C1515"/>
                </a:solidFill>
                <a:latin typeface="Arial"/>
              </a:rPr>
              <a:t>Main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938528"/>
            <a:ext cx="323697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222222"/>
                </a:solidFill>
                <a:latin typeface="Arial"/>
              </a:rPr>
              <a:t>Estimates vary across samples. We use sampling distributions to quantify uncertainty.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566160" cy="4434840"/>
          </a:xfrm>
          <a:prstGeom prst="roundRect">
            <a:avLst/>
          </a:prstGeom>
          <a:solidFill>
            <a:srgbClr val="EFF6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1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A6FBB"/>
                </a:solidFill>
                <a:latin typeface="Arial"/>
              </a:rPr>
              <a:t>Core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1938528"/>
            <a:ext cx="3236976" cy="31227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Bootstrap resampling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 standard error,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 confidence interval,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 CLT,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normal approximation.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91840" cy="4434840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9912" y="1545336"/>
            <a:ext cx="2962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87D3C"/>
                </a:solidFill>
                <a:latin typeface="Arial"/>
              </a:rPr>
              <a:t>Keep in mind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1938528"/>
            <a:ext cx="296265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>
                <a:solidFill>
                  <a:srgbClr val="222222"/>
                </a:solidFill>
                <a:latin typeface="Arial"/>
              </a:rPr>
              <a:t>A CI quantifies sampling uncertainty, not confounding, selection bias, or distribution shift.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9E73E-F5B0-4838-3D48-85957D562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08F4A7-E728-5C28-8970-646D8788E140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8: Bootstrap and normal approximation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804688-C2B3-8245-D02F-8953A1B87860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FE57D8-12FA-2B60-72FA-80E8DBBCDB6A}"/>
              </a:ext>
            </a:extLst>
          </p:cNvPr>
          <p:cNvSpPr txBox="1"/>
          <p:nvPr/>
        </p:nvSpPr>
        <p:spPr>
          <a:xfrm>
            <a:off x="733647" y="1467293"/>
            <a:ext cx="737899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/>
              <a:t>What is bootstrap?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Why bootstrap?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What does bootstrap give us? 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When bootstrap fails?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What is Law of Large Number (LLN)?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What is Central Limit Theorem (CLT)?</a:t>
            </a:r>
          </a:p>
        </p:txBody>
      </p:sp>
    </p:spTree>
    <p:extLst>
      <p:ext uri="{BB962C8B-B14F-4D97-AF65-F5344CB8AC3E}">
        <p14:creationId xmlns:p14="http://schemas.microsoft.com/office/powerpoint/2010/main" val="277206710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59D0E-5048-AC0C-1039-6FD48014E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6F3C5B-1FDB-0742-1BC2-C4254FE4453F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8: Bootstrap and normal approximation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6CF4F4-7835-D0BB-6F9A-8C13C4D03DDF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EB2FE3-6653-560C-F861-EEE9B1CE0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69336"/>
            <a:ext cx="8963350" cy="371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6837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9: Permutation tests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566160" cy="443484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C1515"/>
                </a:solidFill>
                <a:latin typeface="Arial"/>
              </a:rPr>
              <a:t>Main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938528"/>
            <a:ext cx="323697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222222"/>
                </a:solidFill>
                <a:latin typeface="Arial"/>
              </a:rPr>
              <a:t>A permutation test asks: how unusual is this statistic if labels were exchangeable?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566160" cy="4434840"/>
          </a:xfrm>
          <a:prstGeom prst="roundRect">
            <a:avLst/>
          </a:prstGeom>
          <a:solidFill>
            <a:srgbClr val="EFF6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1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A6FBB"/>
                </a:solidFill>
                <a:latin typeface="Arial"/>
              </a:rPr>
              <a:t>Core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1938528"/>
            <a:ext cx="323697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>
                <a:solidFill>
                  <a:srgbClr val="222222"/>
                </a:solidFill>
                <a:latin typeface="Arial"/>
              </a:rPr>
              <a:t>Choose a statistic, shuffle labels under H0, compare observed statistic to null distribution.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91840" cy="4434840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9912" y="1545336"/>
            <a:ext cx="2962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87D3C"/>
                </a:solidFill>
                <a:latin typeface="Arial"/>
              </a:rPr>
              <a:t>Keep in mind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1938528"/>
            <a:ext cx="296265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>
                <a:solidFill>
                  <a:srgbClr val="222222"/>
                </a:solidFill>
                <a:latin typeface="Arial"/>
              </a:rPr>
              <a:t>Validity depends on exchangeability. Bootstrap estimates uncertainty; permutation tests a null.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5367A-F27B-ECF9-634B-04C80B645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32EE9A-61EC-0491-8C34-1302230145A4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9: Permutation tests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85087A-61BC-B5EA-A24F-4C734FD558ED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06F191-E57F-0FED-4B56-7C42143EF2DD}"/>
              </a:ext>
            </a:extLst>
          </p:cNvPr>
          <p:cNvSpPr txBox="1"/>
          <p:nvPr/>
        </p:nvSpPr>
        <p:spPr>
          <a:xfrm>
            <a:off x="584791" y="1360967"/>
            <a:ext cx="32905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- What is a permutation test?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0C292DB-BFF6-FB6D-03FF-96A21493E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90" y="1825371"/>
            <a:ext cx="8612945" cy="10879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F98CE49-9652-501B-5C34-E6D5AB2A9FF5}"/>
              </a:ext>
            </a:extLst>
          </p:cNvPr>
          <p:cNvSpPr txBox="1"/>
          <p:nvPr/>
        </p:nvSpPr>
        <p:spPr>
          <a:xfrm>
            <a:off x="584791" y="3028890"/>
            <a:ext cx="22922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- What is a p-value?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248DAED-8368-FB1E-F380-DFCEA627E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89" y="3544569"/>
            <a:ext cx="8658275" cy="10879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DBAF29C-B7CB-74F7-7272-3D7A5F6A2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789" y="4640025"/>
            <a:ext cx="8739964" cy="216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20950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FA3C4-3AA2-26BF-91A3-FE5B8E0C2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35FB3B-FD2D-EBB2-2B1C-D846E7743E07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9: Permutation tests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EF4076-FB05-FEE1-7452-BFA090F1AF80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9BB554-DF52-F493-F9BB-9455000B45FA}"/>
              </a:ext>
            </a:extLst>
          </p:cNvPr>
          <p:cNvSpPr txBox="1"/>
          <p:nvPr/>
        </p:nvSpPr>
        <p:spPr>
          <a:xfrm>
            <a:off x="584791" y="1360967"/>
            <a:ext cx="3661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- Bootstrap </a:t>
            </a:r>
            <a:r>
              <a:rPr lang="en-US" sz="2000" dirty="0" err="1"/>
              <a:t>v.s</a:t>
            </a:r>
            <a:r>
              <a:rPr lang="en-US" sz="2000" dirty="0"/>
              <a:t>. Permutation test?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418640-4509-3F7F-42E1-687FCD05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91" y="1819556"/>
            <a:ext cx="7485321" cy="4717722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84BB694-F91C-3E55-6B3B-68BE63DF8D71}"/>
              </a:ext>
            </a:extLst>
          </p:cNvPr>
          <p:cNvSpPr/>
          <p:nvPr/>
        </p:nvSpPr>
        <p:spPr>
          <a:xfrm>
            <a:off x="5114260" y="4625163"/>
            <a:ext cx="3083442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0247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09842-0BAD-9D48-3AD6-E862821D2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1F8833-C89B-FACF-B10A-1A828EBB563A}"/>
              </a:ext>
            </a:extLst>
          </p:cNvPr>
          <p:cNvSpPr txBox="1"/>
          <p:nvPr/>
        </p:nvSpPr>
        <p:spPr>
          <a:xfrm>
            <a:off x="411480" y="292608"/>
            <a:ext cx="11155680" cy="6336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3600" b="1" dirty="0">
                <a:solidFill>
                  <a:srgbClr val="222222"/>
                </a:solidFill>
                <a:latin typeface="Arial"/>
              </a:rPr>
              <a:t>Practice</a:t>
            </a:r>
            <a:r>
              <a:rPr sz="3600" b="1" dirty="0">
                <a:solidFill>
                  <a:srgbClr val="222222"/>
                </a:solidFill>
                <a:latin typeface="Arial"/>
              </a:rPr>
              <a:t> 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446B0E-FA37-7E21-BA77-EF9445D78E2E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A7F0E3-5C5A-11B1-9027-220A46789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700" y="1523745"/>
            <a:ext cx="9490001" cy="334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1680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55675-3E5C-FCAD-102A-D3DB1DE23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816550-A6A7-EBA3-DA4B-83B2AEA54E26}"/>
              </a:ext>
            </a:extLst>
          </p:cNvPr>
          <p:cNvSpPr txBox="1"/>
          <p:nvPr/>
        </p:nvSpPr>
        <p:spPr>
          <a:xfrm>
            <a:off x="411480" y="292608"/>
            <a:ext cx="11155680" cy="6336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3600" b="1" dirty="0">
                <a:solidFill>
                  <a:srgbClr val="222222"/>
                </a:solidFill>
                <a:latin typeface="Arial"/>
              </a:rPr>
              <a:t>Practice</a:t>
            </a:r>
            <a:r>
              <a:rPr sz="3600" b="1" dirty="0">
                <a:solidFill>
                  <a:srgbClr val="222222"/>
                </a:solidFill>
                <a:latin typeface="Arial"/>
              </a:rPr>
              <a:t> 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273DCD-1754-EFDD-C5A3-43BF26E3621C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9CF777-F440-55F5-E0DB-40FC99C07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794" y="1568007"/>
            <a:ext cx="10079518" cy="341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96800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10: Hypothesis testing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566160" cy="443484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C1515"/>
                </a:solidFill>
                <a:latin typeface="Arial"/>
              </a:rPr>
              <a:t>Main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938528"/>
            <a:ext cx="323697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222222"/>
                </a:solidFill>
                <a:latin typeface="Arial"/>
              </a:rPr>
              <a:t>Hypothesis tests formalize evidence against a null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566160" cy="4434840"/>
          </a:xfrm>
          <a:prstGeom prst="roundRect">
            <a:avLst/>
          </a:prstGeom>
          <a:solidFill>
            <a:srgbClr val="EFF6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1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A6FBB"/>
                </a:solidFill>
                <a:latin typeface="Arial"/>
              </a:rPr>
              <a:t>Core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1938528"/>
            <a:ext cx="3236976" cy="38013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H0/H1,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p-values,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α,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Type I/II error,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power,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CI/test duality.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91840" cy="4434840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9912" y="1545336"/>
            <a:ext cx="2962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87D3C"/>
                </a:solidFill>
                <a:latin typeface="Arial"/>
              </a:rPr>
              <a:t>Keep in mind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1938528"/>
            <a:ext cx="296265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>
                <a:solidFill>
                  <a:srgbClr val="222222"/>
                </a:solidFill>
                <a:latin typeface="Arial"/>
              </a:rPr>
              <a:t>Fail to reject does not mean the null is true. Statistical significance is not practical importance.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B6C75-A98B-CD2D-737F-55B014626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8C071B-67AA-D4A0-65DC-97394F774DC7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10: Hypothesis testing framework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C31C26-6223-D151-54AB-89F3B2276CC4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5056DC8-F93E-B2C0-F71B-32F6A311E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48" y="1351426"/>
            <a:ext cx="9045353" cy="521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05767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99EEE-7631-753E-E059-4AA489203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1CD443-B9AA-AF3F-086A-FF0F687FDF74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10: Hypothesis testing framework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44C153-6843-10F0-BBD2-443C40FE381C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915AF9-5E3A-9603-31F1-BAFDB859B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56" y="1317551"/>
            <a:ext cx="7772400" cy="33310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173094-0C08-759C-7DBB-0A51A40274DF}"/>
              </a:ext>
            </a:extLst>
          </p:cNvPr>
          <p:cNvSpPr txBox="1"/>
          <p:nvPr/>
        </p:nvSpPr>
        <p:spPr>
          <a:xfrm>
            <a:off x="808074" y="5560828"/>
            <a:ext cx="6059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Power: The probability to reject the null when the null is false. </a:t>
            </a:r>
          </a:p>
        </p:txBody>
      </p:sp>
    </p:spTree>
    <p:extLst>
      <p:ext uri="{BB962C8B-B14F-4D97-AF65-F5344CB8AC3E}">
        <p14:creationId xmlns:p14="http://schemas.microsoft.com/office/powerpoint/2010/main" val="158004140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Practice 10: power and errors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ractice_power_reg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766560" cy="4800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43800" y="1508760"/>
            <a:ext cx="4069080" cy="384048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08392" y="1636776"/>
            <a:ext cx="37398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C1515"/>
                </a:solidFill>
                <a:latin typeface="Arial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08392" y="2029967"/>
            <a:ext cx="3739896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>
                <a:solidFill>
                  <a:srgbClr val="222222"/>
                </a:solidFill>
                <a:latin typeface="Arial"/>
              </a:rPr>
              <a:t>Which shaded region is Type I error?
Which is Type II error?
How would increasing sample size affect power?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Practice 10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8680" y="1508760"/>
            <a:ext cx="10424160" cy="3611880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1636776"/>
            <a:ext cx="10094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287D3C"/>
                </a:solidFill>
                <a:latin typeface="Arial"/>
              </a:rPr>
              <a:t>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029967"/>
            <a:ext cx="10094976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>
                <a:solidFill>
                  <a:srgbClr val="222222"/>
                </a:solidFill>
                <a:latin typeface="Arial"/>
              </a:rPr>
              <a:t>Right tail under the null = Type I error.
Left side under the alternative = Type II error.
Increasing sample size usually separates the distributions more, reducing Type II error and increasing power.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6336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dirty="0">
                <a:solidFill>
                  <a:srgbClr val="222222"/>
                </a:solidFill>
                <a:latin typeface="Arial"/>
              </a:rPr>
              <a:t>Ch 11: Multiple testing</a:t>
            </a:r>
            <a:r>
              <a:rPr lang="en-US" sz="3600" b="1" dirty="0">
                <a:solidFill>
                  <a:srgbClr val="222222"/>
                </a:solidFill>
                <a:latin typeface="Arial"/>
              </a:rPr>
              <a:t> (see notes on Canvas)</a:t>
            </a:r>
            <a:endParaRPr sz="3600" b="1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566160" cy="443484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C1515"/>
                </a:solidFill>
                <a:latin typeface="Arial"/>
              </a:rPr>
              <a:t>Main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938528"/>
            <a:ext cx="323697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222222"/>
                </a:solidFill>
                <a:latin typeface="Arial"/>
              </a:rPr>
              <a:t>Many tests create false discoveries even when every null is true.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566160" cy="4434840"/>
          </a:xfrm>
          <a:prstGeom prst="roundRect">
            <a:avLst/>
          </a:prstGeom>
          <a:solidFill>
            <a:srgbClr val="EFF6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1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A6FBB"/>
                </a:solidFill>
                <a:latin typeface="Arial"/>
              </a:rPr>
              <a:t>Core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1938528"/>
            <a:ext cx="3236976" cy="31227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FWER,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Bonferroni,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FDR,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Benjamini–Hochberg,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p-value histograms.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91840" cy="4434840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9912" y="1545336"/>
            <a:ext cx="2962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87D3C"/>
                </a:solidFill>
                <a:latin typeface="Arial"/>
              </a:rPr>
              <a:t>Keep in mind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1938528"/>
            <a:ext cx="296265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>
                <a:solidFill>
                  <a:srgbClr val="222222"/>
                </a:solidFill>
                <a:latin typeface="Arial"/>
              </a:rPr>
              <a:t>Correction is not optional when the search process creates many chances to be fooled.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12: Regression inference + diagnostics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566160" cy="443484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C1515"/>
                </a:solidFill>
                <a:latin typeface="Arial"/>
              </a:rPr>
              <a:t>Main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938528"/>
            <a:ext cx="323697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222222"/>
                </a:solidFill>
                <a:latin typeface="Arial"/>
              </a:rPr>
              <a:t>Regression tables are conditional claims; diagnostics ask whether the model assumptions are plausible.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566160" cy="4434840"/>
          </a:xfrm>
          <a:prstGeom prst="roundRect">
            <a:avLst/>
          </a:prstGeom>
          <a:solidFill>
            <a:srgbClr val="EFF6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1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A6FBB"/>
                </a:solidFill>
                <a:latin typeface="Arial"/>
              </a:rPr>
              <a:t>Core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1938528"/>
            <a:ext cx="323697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>
                <a:solidFill>
                  <a:srgbClr val="222222"/>
                </a:solidFill>
                <a:latin typeface="Arial"/>
              </a:rPr>
              <a:t>t-tests for coefficients, confidence intervals, residual plots, Q-Q plots, LINE assumptions.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91840" cy="4434840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9912" y="1545336"/>
            <a:ext cx="2962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87D3C"/>
                </a:solidFill>
                <a:latin typeface="Arial"/>
              </a:rPr>
              <a:t>Keep in mind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1938528"/>
            <a:ext cx="296265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>
                <a:solidFill>
                  <a:srgbClr val="222222"/>
                </a:solidFill>
                <a:latin typeface="Arial"/>
              </a:rPr>
              <a:t>Small p-values do not rescue a bad model. Diagnose before over-interpreting coefficients.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3F259-5F62-AD78-8038-B7234DC03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F83F6A4-5CAC-657E-F424-0C1F3E14A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915" y="0"/>
            <a:ext cx="8318987" cy="671093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104FFC8-94C5-FDF6-5828-6342E793300F}"/>
              </a:ext>
            </a:extLst>
          </p:cNvPr>
          <p:cNvSpPr/>
          <p:nvPr/>
        </p:nvSpPr>
        <p:spPr>
          <a:xfrm>
            <a:off x="5730949" y="6088912"/>
            <a:ext cx="3912781" cy="2587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30840C2-B23A-3493-3A8B-20FD73488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1178" y="2834471"/>
            <a:ext cx="2057216" cy="240738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61C4121-0762-E9E5-8692-5E8EE1289FCB}"/>
              </a:ext>
            </a:extLst>
          </p:cNvPr>
          <p:cNvSpPr/>
          <p:nvPr/>
        </p:nvSpPr>
        <p:spPr>
          <a:xfrm>
            <a:off x="4547189" y="2834471"/>
            <a:ext cx="7162801" cy="5209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D4D5B3-1378-17A7-59C0-E4026CF35AF1}"/>
              </a:ext>
            </a:extLst>
          </p:cNvPr>
          <p:cNvSpPr/>
          <p:nvPr/>
        </p:nvSpPr>
        <p:spPr>
          <a:xfrm>
            <a:off x="5840819" y="769088"/>
            <a:ext cx="3912781" cy="5209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99836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D9899-DC2E-6D2A-57BC-17BEB1669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3F68A4-9CBB-C293-0632-BEA983859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01" y="174994"/>
            <a:ext cx="8675577" cy="22824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DF693F-42F7-0F6D-E529-A47F9AB14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53768"/>
            <a:ext cx="4126779" cy="32935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D4D360-FB89-120B-F9CC-C916F8DDD9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0621" y="2753768"/>
            <a:ext cx="3690761" cy="31092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BA7552-FD9B-01BF-CD3E-FBAAC1EEFF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1382" y="2847409"/>
            <a:ext cx="4126779" cy="310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14877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402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600" b="1">
                <a:solidFill>
                  <a:srgbClr val="FFFFFF"/>
                </a:solidFill>
                <a:latin typeface="Arial"/>
              </a:rPr>
              <a:t>Act 3: See Further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461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0">
                <a:solidFill>
                  <a:srgbClr val="FFFFFF"/>
                </a:solidFill>
                <a:latin typeface="Arial"/>
              </a:rPr>
              <a:t>Flexible models, dimension reduction, unsupervised learning, deployment, and AI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13: Decision trees and random forests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566160" cy="443484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C1515"/>
                </a:solidFill>
                <a:latin typeface="Arial"/>
              </a:rPr>
              <a:t>Main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938528"/>
            <a:ext cx="323697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222222"/>
                </a:solidFill>
                <a:latin typeface="Arial"/>
              </a:rPr>
              <a:t>Trees learn if/then partitions. Forests average many noisy trees to reduce variance.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566160" cy="4434840"/>
          </a:xfrm>
          <a:prstGeom prst="roundRect">
            <a:avLst/>
          </a:prstGeom>
          <a:solidFill>
            <a:srgbClr val="EFF6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1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A6FBB"/>
                </a:solidFill>
                <a:latin typeface="Arial"/>
              </a:rPr>
              <a:t>Core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1938528"/>
            <a:ext cx="3236976" cy="27833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Splits,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leaves,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Gini/SSE,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 err="1">
                <a:solidFill>
                  <a:srgbClr val="222222"/>
                </a:solidFill>
                <a:latin typeface="Arial"/>
              </a:rPr>
              <a:t>max_depth</a:t>
            </a:r>
            <a:r>
              <a:rPr sz="2100" b="0" dirty="0">
                <a:solidFill>
                  <a:srgbClr val="222222"/>
                </a:solidFill>
                <a:latin typeface="Arial"/>
              </a:rPr>
              <a:t>,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bagging,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random feature subsets,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feature importance.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91840" cy="4434840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9912" y="1545336"/>
            <a:ext cx="2962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87D3C"/>
                </a:solidFill>
                <a:latin typeface="Arial"/>
              </a:rPr>
              <a:t>Keep in mind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1938528"/>
            <a:ext cx="296265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>
                <a:solidFill>
                  <a:srgbClr val="222222"/>
                </a:solidFill>
                <a:latin typeface="Arial"/>
              </a:rPr>
              <a:t>Deep single trees overfit. More trees in a forest usually stabilize; depth controls overfitting more directly.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FBCE8-E12E-1FDF-B463-437F4F3D0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4CB862-EAB9-30C6-21B8-FC7FA32C0546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13: Decision trees and random forests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B8AD7C-7DD0-D5F8-67A0-F4819F5CEAF8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B0EC57B-ECF2-9D49-4D04-F111B3FB8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475646"/>
            <a:ext cx="7772400" cy="339480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4F93BA0-1555-76A3-EDCB-DBF8B1488C4E}"/>
              </a:ext>
            </a:extLst>
          </p:cNvPr>
          <p:cNvSpPr txBox="1"/>
          <p:nvPr/>
        </p:nvSpPr>
        <p:spPr>
          <a:xfrm>
            <a:off x="718458" y="1547546"/>
            <a:ext cx="2906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Trees are doing partitions.</a:t>
            </a:r>
          </a:p>
        </p:txBody>
      </p:sp>
    </p:spTree>
    <p:extLst>
      <p:ext uri="{BB962C8B-B14F-4D97-AF65-F5344CB8AC3E}">
        <p14:creationId xmlns:p14="http://schemas.microsoft.com/office/powerpoint/2010/main" val="392412482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32FDF-DE88-B3B2-4711-5364BC4A0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99C99B-7224-03C3-AA97-95117D648620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13: Decision trees and random forests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641F87-9A1E-0536-D7A7-53F298A3BB34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F7DF2F-BC62-B247-8623-5E05A4A5688C}"/>
              </a:ext>
            </a:extLst>
          </p:cNvPr>
          <p:cNvSpPr txBox="1"/>
          <p:nvPr/>
        </p:nvSpPr>
        <p:spPr>
          <a:xfrm>
            <a:off x="718458" y="1547546"/>
            <a:ext cx="4295791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400" dirty="0"/>
              <a:t>What are ensemble methods?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Bagging?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Boosting?</a:t>
            </a:r>
          </a:p>
          <a:p>
            <a:pPr marL="800100" lvl="1" indent="-342900">
              <a:buFontTx/>
              <a:buChar char="-"/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014B3A-7C4A-95E7-6BB6-6C542B52DD66}"/>
              </a:ext>
            </a:extLst>
          </p:cNvPr>
          <p:cNvSpPr txBox="1"/>
          <p:nvPr/>
        </p:nvSpPr>
        <p:spPr>
          <a:xfrm>
            <a:off x="718458" y="3429000"/>
            <a:ext cx="980672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400" dirty="0"/>
              <a:t>What are the benefits of ensemble methods, how about the cost?</a:t>
            </a:r>
          </a:p>
          <a:p>
            <a:pPr marL="285750" indent="-285750">
              <a:buFontTx/>
              <a:buChar char="-"/>
            </a:pPr>
            <a:endParaRPr lang="en-US" sz="2400" dirty="0"/>
          </a:p>
          <a:p>
            <a:pPr marL="285750" indent="-285750">
              <a:buFontTx/>
              <a:buChar char="-"/>
            </a:pPr>
            <a:r>
              <a:rPr lang="en-US" sz="2400" dirty="0"/>
              <a:t>What are the advantage of tree-based methods compare to linear method 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How about disadvantages? </a:t>
            </a:r>
          </a:p>
          <a:p>
            <a:pPr marL="285750" indent="-285750">
              <a:buFontTx/>
              <a:buChar char="-"/>
            </a:pPr>
            <a:endParaRPr lang="en-US" sz="2400" dirty="0"/>
          </a:p>
          <a:p>
            <a:pPr marL="285750" indent="-285750">
              <a:buFontTx/>
              <a:buChar char="-"/>
            </a:pPr>
            <a:r>
              <a:rPr lang="en-US" sz="2400" dirty="0"/>
              <a:t>How to choose depth?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68438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1E61C-37AC-7C52-15A3-D9DF6B837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793D77-0EDB-4F60-AD9B-8F69067FF505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13: Decision trees and random forests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06A9BE-BD48-626A-843D-651308D38A20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B5AE62-42AF-7336-D21C-85DAE6931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75" y="1462182"/>
            <a:ext cx="8504793" cy="334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75792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Practice 13: tree depth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ractice_tree_depth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766560" cy="4800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43800" y="1508760"/>
            <a:ext cx="4069080" cy="384048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08392" y="1636776"/>
            <a:ext cx="37398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C1515"/>
                </a:solidFill>
                <a:latin typeface="Arial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08392" y="2029967"/>
            <a:ext cx="3739896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>
                <a:solidFill>
                  <a:srgbClr val="222222"/>
                </a:solidFill>
                <a:latin typeface="Arial"/>
              </a:rPr>
              <a:t>What happens as max_depth increases?
Why can train R² keep rising while test R² falls?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Practice 13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8680" y="1508760"/>
            <a:ext cx="10424160" cy="3611880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1636776"/>
            <a:ext cx="10094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287D3C"/>
                </a:solidFill>
                <a:latin typeface="Arial"/>
              </a:rPr>
              <a:t>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029967"/>
            <a:ext cx="10094976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>
                <a:solidFill>
                  <a:srgbClr val="222222"/>
                </a:solidFill>
                <a:latin typeface="Arial"/>
              </a:rPr>
              <a:t>Deeper trees memorize idiosyncrasies in the training data.
Train R² rises because the model fits noise; test R² falls because the learned splits do not generalize.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14: PCA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566160" cy="443484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C1515"/>
                </a:solidFill>
                <a:latin typeface="Arial"/>
              </a:rPr>
              <a:t>Main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938528"/>
            <a:ext cx="323697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222222"/>
                </a:solidFill>
                <a:latin typeface="Arial"/>
              </a:rPr>
              <a:t>PCA finds low-dimensional linear summaries that capture maximum variance.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566160" cy="4434840"/>
          </a:xfrm>
          <a:prstGeom prst="roundRect">
            <a:avLst/>
          </a:prstGeom>
          <a:solidFill>
            <a:srgbClr val="EFF6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1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A6FBB"/>
                </a:solidFill>
                <a:latin typeface="Arial"/>
              </a:rPr>
              <a:t>Core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1938528"/>
            <a:ext cx="3236976" cy="38013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Standardization,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PC scores,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loadings,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explained variance,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scree plots,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SVD.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91840" cy="4434840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9912" y="1545336"/>
            <a:ext cx="2962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87D3C"/>
                </a:solidFill>
                <a:latin typeface="Arial"/>
              </a:rPr>
              <a:t>Keep in mind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1938528"/>
            <a:ext cx="296265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>
                <a:solidFill>
                  <a:srgbClr val="222222"/>
                </a:solidFill>
                <a:latin typeface="Arial"/>
              </a:rPr>
              <a:t>Interpret loadings. PCA creates new combined features; it does not select original variables like lasso.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FB86E-B11A-D1EA-AE2A-81DA03502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D5B9AC-7C9A-6F95-D7EE-41F3ACB67F10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14: PCA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159ECB-C496-830A-3074-D9B1CAEDB3D9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5AAC10F-5E2E-5693-FE7C-3156B468D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19556"/>
            <a:ext cx="7772400" cy="544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86601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32B6F-123F-90CC-55D9-95AB5EA2D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1E848A-C93B-2C06-CDC0-A7E9D08485EB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14: PCA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D4D58B-A539-8F6F-5297-5D6059EA41C9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7A9F4-1DCA-BC03-97D1-3340D1F39082}"/>
              </a:ext>
            </a:extLst>
          </p:cNvPr>
          <p:cNvSpPr txBox="1"/>
          <p:nvPr/>
        </p:nvSpPr>
        <p:spPr>
          <a:xfrm>
            <a:off x="925417" y="1674564"/>
            <a:ext cx="844481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/>
              <a:t>What is PCA doing?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How PCA differs from feature selection?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Name some cases PCA might have better interpretation than feature selections?</a:t>
            </a:r>
          </a:p>
          <a:p>
            <a:pPr marL="742950" lvl="1" indent="-285750">
              <a:buFontTx/>
              <a:buChar char="-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D20B6E-44A0-8787-AD05-7FB4D9DB7FC5}"/>
              </a:ext>
            </a:extLst>
          </p:cNvPr>
          <p:cNvSpPr txBox="1"/>
          <p:nvPr/>
        </p:nvSpPr>
        <p:spPr>
          <a:xfrm>
            <a:off x="925417" y="3114402"/>
            <a:ext cx="6136295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/>
              <a:t>How to interpret the PCs?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How to choose how many PCs we need?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Why we need to do standardization before doing PCA?</a:t>
            </a:r>
          </a:p>
          <a:p>
            <a:pPr marL="742950" lvl="1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00854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AE4AF-70F5-A052-DC22-6271DB29B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315D51-BDDA-2C76-09BB-974FE013C80D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14: PCA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6D104-6CF5-7142-7572-CA76368709C7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37B89A-59D3-659B-3A16-2C772A263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37701"/>
            <a:ext cx="10289667" cy="244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0574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Practice 14: scree plot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ractice_pca_sc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766560" cy="4800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43800" y="1508760"/>
            <a:ext cx="4069080" cy="384048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08392" y="1636776"/>
            <a:ext cx="37398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C1515"/>
                </a:solidFill>
                <a:latin typeface="Arial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08392" y="2029967"/>
            <a:ext cx="3739896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>
                <a:solidFill>
                  <a:srgbClr val="222222"/>
                </a:solidFill>
                <a:latin typeface="Arial"/>
              </a:rPr>
              <a:t>How many PCs capture about 70% of variance?
Where is the elbow?
Why standardize first?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Practice 14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8680" y="1508760"/>
            <a:ext cx="10424160" cy="3611880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1636776"/>
            <a:ext cx="10094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287D3C"/>
                </a:solidFill>
                <a:latin typeface="Arial"/>
              </a:rPr>
              <a:t>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029967"/>
            <a:ext cx="10094976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>
                <a:solidFill>
                  <a:srgbClr val="222222"/>
                </a:solidFill>
                <a:latin typeface="Arial"/>
              </a:rPr>
              <a:t>About 4 PCs capture roughly 70% here.
The elbow is around PC3 or PC4.
Standardize first so PCA is not dominated by variables with large measurement units.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15: Clustering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566160" cy="443484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C1515"/>
                </a:solidFill>
                <a:latin typeface="Arial"/>
              </a:rPr>
              <a:t>Main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938528"/>
            <a:ext cx="323697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222222"/>
                </a:solidFill>
                <a:latin typeface="Arial"/>
              </a:rPr>
              <a:t>Clustering finds groups without labels, but the algorithm will always return groups.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566160" cy="4434840"/>
          </a:xfrm>
          <a:prstGeom prst="roundRect">
            <a:avLst/>
          </a:prstGeom>
          <a:solidFill>
            <a:srgbClr val="EFF6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1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A6FBB"/>
                </a:solidFill>
                <a:latin typeface="Arial"/>
              </a:rPr>
              <a:t>Core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1938528"/>
            <a:ext cx="3236976" cy="21047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K-means, </a:t>
            </a:r>
            <a:endParaRPr lang="en-US" sz="210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centroids,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SSE/inertia,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elbow plot,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initialization, </a:t>
            </a:r>
            <a:endParaRPr lang="en-US" sz="2100" b="0" dirty="0">
              <a:solidFill>
                <a:srgbClr val="222222"/>
              </a:solidFill>
              <a:latin typeface="Arial"/>
            </a:endParaRPr>
          </a:p>
          <a:p>
            <a:pPr marL="342900" indent="-342900" algn="l">
              <a:lnSpc>
                <a:spcPct val="105000"/>
              </a:lnSpc>
              <a:buFontTx/>
              <a:buChar char="-"/>
            </a:pPr>
            <a:r>
              <a:rPr sz="2100" b="0" dirty="0">
                <a:solidFill>
                  <a:srgbClr val="222222"/>
                </a:solidFill>
                <a:latin typeface="Arial"/>
              </a:rPr>
              <a:t>ARI.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91840" cy="4434840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9912" y="1545336"/>
            <a:ext cx="2962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87D3C"/>
                </a:solidFill>
                <a:latin typeface="Arial"/>
              </a:rPr>
              <a:t>Keep in mind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1938528"/>
            <a:ext cx="296265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>
                <a:solidFill>
                  <a:srgbClr val="222222"/>
                </a:solidFill>
                <a:latin typeface="Arial"/>
              </a:rPr>
              <a:t>Feature choice defines similarity. Validate clusters using external evidence or downstream use.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758EA-7A1C-1760-32D8-CAEC8900E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FAB28C-31E3-33CA-E672-A0A524772A20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15: Clustering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0CFA9E-FA5B-6701-2DF8-48AEDB71E5CF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66B38C-9B40-59B7-7F7F-0E7D4140982F}"/>
              </a:ext>
            </a:extLst>
          </p:cNvPr>
          <p:cNvSpPr txBox="1"/>
          <p:nvPr/>
        </p:nvSpPr>
        <p:spPr>
          <a:xfrm>
            <a:off x="959786" y="1542361"/>
            <a:ext cx="628806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/>
              <a:t>How to measure similarity between different units?</a:t>
            </a:r>
          </a:p>
          <a:p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What is supervised learning and unsupervised learning?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What is K-means algorithm?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ED2FCB6-A97A-185C-7D64-E438A3DBB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86" y="3290110"/>
            <a:ext cx="7772400" cy="266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00580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43FE8-7818-E491-4680-F1D189766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89D49E-5208-5B2D-83B4-8A9FBF0E154B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15: Clustering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498FD0-B74E-919B-40B1-7B38C337762F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EB37CB-E47E-550B-5C2D-430AE15B43F7}"/>
              </a:ext>
            </a:extLst>
          </p:cNvPr>
          <p:cNvSpPr txBox="1"/>
          <p:nvPr/>
        </p:nvSpPr>
        <p:spPr>
          <a:xfrm>
            <a:off x="528809" y="1291013"/>
            <a:ext cx="709360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/>
              <a:t>K-means can be sensitive to initialization.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Different choice of K can return very different clustering results.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Your feature decide the clustering. 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When K-means fail: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822B7C-608D-F3EC-B7A7-559251592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32" y="3537135"/>
            <a:ext cx="5342295" cy="32563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CB2296-1779-3BA2-9BB5-9E36A5468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593" y="3809239"/>
            <a:ext cx="5902674" cy="243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98863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CA711-FA25-A922-3512-F46E79B53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87122B-E17C-B2AB-45FC-165BEE48A19D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15: Clustering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4BF1AC-CDD6-ADE7-A81E-C21F916E8FE8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F911F4-A859-DE85-27FC-6030EEE59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55" y="1546416"/>
            <a:ext cx="8741502" cy="3475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88371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16: Validation beyond the random split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566160" cy="4434840"/>
          </a:xfrm>
          <a:prstGeom prst="roundRect">
            <a:avLst/>
          </a:prstGeom>
          <a:solidFill>
            <a:srgbClr val="F7F2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C1515"/>
                </a:solidFill>
                <a:latin typeface="Arial"/>
              </a:rPr>
              <a:t>Main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938528"/>
            <a:ext cx="323697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222222"/>
                </a:solidFill>
                <a:latin typeface="Arial"/>
              </a:rPr>
              <a:t>Deployment changes the validation question: will this model work in the world where it is used?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566160" cy="4434840"/>
          </a:xfrm>
          <a:prstGeom prst="roundRect">
            <a:avLst/>
          </a:prstGeom>
          <a:solidFill>
            <a:srgbClr val="EFF6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1" y="1545336"/>
            <a:ext cx="3236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A6FBB"/>
                </a:solidFill>
                <a:latin typeface="Arial"/>
              </a:rPr>
              <a:t>Core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1938528"/>
            <a:ext cx="323697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>
                <a:solidFill>
                  <a:srgbClr val="222222"/>
                </a:solidFill>
                <a:latin typeface="Arial"/>
              </a:rPr>
              <a:t>Temporal split, grouped split, walk-forward validation, leakage audit, distribution shift, feedback loops, Goodhart.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91840" cy="4434840"/>
          </a:xfrm>
          <a:prstGeom prst="roundRect">
            <a:avLst/>
          </a:prstGeom>
          <a:solidFill>
            <a:srgbClr val="F0F7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9912" y="1545336"/>
            <a:ext cx="2962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87D3C"/>
                </a:solidFill>
                <a:latin typeface="Arial"/>
              </a:rPr>
              <a:t>Keep in mind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1938528"/>
            <a:ext cx="2962656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>
                <a:solidFill>
                  <a:srgbClr val="222222"/>
                </a:solidFill>
                <a:latin typeface="Arial"/>
              </a:rPr>
              <a:t>Split along the axis of generalization. Historical accuracy may fail after intervention or policy change.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BEF5A-785D-07F3-3769-6FBE0331E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F3887E-22F2-F7B7-6F9A-A8235FD062DD}"/>
              </a:ext>
            </a:extLst>
          </p:cNvPr>
          <p:cNvSpPr txBox="1"/>
          <p:nvPr/>
        </p:nvSpPr>
        <p:spPr>
          <a:xfrm>
            <a:off x="411480" y="29260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22222"/>
                </a:solidFill>
                <a:latin typeface="Arial"/>
              </a:rPr>
              <a:t>Ch 16: Validation beyond the random split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FECEDF-BF07-31A6-D9BC-2E8E84FDAF1D}"/>
              </a:ext>
            </a:extLst>
          </p:cNvPr>
          <p:cNvSpPr/>
          <p:nvPr/>
        </p:nvSpPr>
        <p:spPr>
          <a:xfrm>
            <a:off x="411480" y="987552"/>
            <a:ext cx="11201400" cy="32004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61E47B-6E7D-F008-10EA-1454E8441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480" y="1629042"/>
            <a:ext cx="9357375" cy="266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896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3427</Words>
  <Application>Microsoft Macintosh PowerPoint</Application>
  <PresentationFormat>Widescreen</PresentationFormat>
  <Paragraphs>585</Paragraphs>
  <Slides>97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I-han Lai</cp:lastModifiedBy>
  <cp:revision>8</cp:revision>
  <dcterms:created xsi:type="dcterms:W3CDTF">2013-01-27T09:14:16Z</dcterms:created>
  <dcterms:modified xsi:type="dcterms:W3CDTF">2026-06-03T17:30:58Z</dcterms:modified>
  <cp:category/>
</cp:coreProperties>
</file>