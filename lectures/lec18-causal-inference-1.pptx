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307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308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310" r:id="rId28"/>
    <p:sldId id="311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9" r:id="rId50"/>
    <p:sldId id="312" r:id="rId51"/>
    <p:sldId id="302" r:id="rId52"/>
    <p:sldId id="303" r:id="rId53"/>
    <p:sldId id="304" r:id="rId54"/>
    <p:sldId id="305" r:id="rId55"/>
    <p:sldId id="306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F9E0AD-225E-CB41-953E-78537B9FADC2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2F917-46CA-D046-8357-B8891A410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560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Prediction, causal, prediction/description, causal.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6302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234440"/>
            <a:ext cx="10972800" cy="548640"/>
          </a:xfrm>
          <a:prstGeom prst="rect">
            <a:avLst/>
          </a:prstGeom>
          <a:noFill/>
        </p:spPr>
        <p:txBody>
          <a:bodyPr wrap="square" lIns="73152" tIns="27432" rIns="73152" bIns="27432">
            <a:normAutofit fontScale="92500" lnSpcReduction="10000"/>
          </a:bodyPr>
          <a:lstStyle/>
          <a:p>
            <a:pPr algn="l">
              <a:defRPr sz="3600" b="1" i="0">
                <a:solidFill>
                  <a:srgbClr val="E6E6E6"/>
                </a:solidFill>
                <a:latin typeface="Aptos"/>
              </a:defRPr>
            </a:pPr>
            <a:r>
              <a:t>Causal Inference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10972800" cy="777240"/>
          </a:xfrm>
          <a:prstGeom prst="rect">
            <a:avLst/>
          </a:prstGeom>
          <a:noFill/>
        </p:spPr>
        <p:txBody>
          <a:bodyPr wrap="square" lIns="73152" tIns="27432" rIns="73152" bIns="27432">
            <a:normAutofit lnSpcReduction="10000"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Aptos"/>
              </a:defRPr>
            </a:pPr>
            <a:r>
              <a:t>Prediction Is Not Causation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88920"/>
            <a:ext cx="10789920" cy="54864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2300" b="0" i="0">
                <a:solidFill>
                  <a:srgbClr val="DCDCDC"/>
                </a:solidFill>
                <a:latin typeface="Aptos"/>
              </a:defRPr>
            </a:pPr>
            <a:r>
              <a:t>Correlation, counterfactuals, and the first language of causal graphs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41148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1000" b="0" i="0">
                <a:solidFill>
                  <a:srgbClr val="CDCDCD"/>
                </a:solidFill>
                <a:latin typeface="Aptos"/>
              </a:defRPr>
            </a:pPr>
            <a:r>
              <a:t>MSE 125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rPr lang="en-US" dirty="0"/>
              <a:t>F</a:t>
            </a:r>
            <a:r>
              <a:rPr dirty="0"/>
              <a:t>rom prediction to intervention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2377440" cy="822960"/>
          </a:xfrm>
          <a:prstGeom prst="roundRect">
            <a:avLst/>
          </a:prstGeom>
          <a:solidFill>
            <a:srgbClr val="EEF6FC"/>
          </a:solidFill>
          <a:ln w="17780"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2000" b="1">
                <a:solidFill>
                  <a:srgbClr val="262626"/>
                </a:solidFill>
                <a:latin typeface="Aptos"/>
              </a:defRPr>
            </a:pPr>
            <a:r>
              <a:t>Prediction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46120" y="2103120"/>
            <a:ext cx="1554480" cy="0"/>
          </a:xfrm>
          <a:prstGeom prst="line">
            <a:avLst/>
          </a:prstGeom>
          <a:ln w="25400">
            <a:solidFill>
              <a:srgbClr val="2A66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>
          <a:xfrm rot="5400000">
            <a:off x="4718304" y="2020824"/>
            <a:ext cx="164592" cy="164592"/>
          </a:xfrm>
          <a:prstGeom prst="triangle">
            <a:avLst/>
          </a:prstGeom>
          <a:solidFill>
            <a:srgbClr val="2A6694"/>
          </a:solidFill>
          <a:ln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983480" y="1600200"/>
            <a:ext cx="2743200" cy="1005840"/>
          </a:xfrm>
          <a:prstGeom prst="roundRect">
            <a:avLst/>
          </a:prstGeom>
          <a:solidFill>
            <a:srgbClr val="EEF6FC"/>
          </a:solidFill>
          <a:ln w="17780"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800" b="1">
                <a:solidFill>
                  <a:srgbClr val="262626"/>
                </a:solidFill>
                <a:latin typeface="Aptos"/>
              </a:defRPr>
            </a:pPr>
            <a:r>
              <a:t>What outcome</a:t>
            </a:r>
            <a:br/>
            <a:r>
              <a:t>should we expect?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2377440" cy="822960"/>
          </a:xfrm>
          <a:prstGeom prst="roundRect">
            <a:avLst/>
          </a:prstGeom>
          <a:solidFill>
            <a:srgbClr val="FFF7F7"/>
          </a:solidFill>
          <a:ln w="1778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2000" b="1">
                <a:solidFill>
                  <a:srgbClr val="262626"/>
                </a:solidFill>
                <a:latin typeface="Aptos"/>
              </a:defRPr>
            </a:pPr>
            <a:r>
              <a:t>Causation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46120" y="4160520"/>
            <a:ext cx="1554480" cy="0"/>
          </a:xfrm>
          <a:prstGeom prst="line">
            <a:avLst/>
          </a:prstGeom>
          <a:ln w="25400">
            <a:solidFill>
              <a:srgbClr val="8C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4718304" y="4078224"/>
            <a:ext cx="164592" cy="164592"/>
          </a:xfrm>
          <a:prstGeom prst="triangle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983480" y="3657599"/>
            <a:ext cx="2743200" cy="1005840"/>
          </a:xfrm>
          <a:prstGeom prst="roundRect">
            <a:avLst/>
          </a:prstGeom>
          <a:solidFill>
            <a:srgbClr val="FFF7F7"/>
          </a:solidFill>
          <a:ln w="1778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800" b="1">
                <a:solidFill>
                  <a:srgbClr val="262626"/>
                </a:solidFill>
                <a:latin typeface="Aptos"/>
              </a:defRPr>
            </a:pPr>
            <a:r>
              <a:t>What would happen</a:t>
            </a:r>
            <a:br/>
            <a:r>
              <a:t>if we changed X?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783080"/>
            <a:ext cx="3474720" cy="2240280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/>
          </a:bodyPr>
          <a:lstStyle/>
          <a:p>
            <a:pPr algn="ctr">
              <a:defRPr sz="2200" b="0">
                <a:solidFill>
                  <a:srgbClr val="262626"/>
                </a:solidFill>
                <a:latin typeface="Aptos"/>
              </a:defRPr>
            </a:pPr>
            <a:r>
              <a:t>A model can predict who is high risk. That does not automatically tell us which action would reduce risk.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Two kinds of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11018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Prediction question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Causal question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Which students are likely to earn more?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Would attending Stanford increase earnings?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Which users are likely to churn?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Would a retention email reduce churn?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Which hospitals have high readmission rates?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Would a discharge protocol reduce readmissions?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Which patients are high risk?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Would a treatment improve outcomes?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97280" y="5650992"/>
            <a:ext cx="9966960" cy="548640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lnSpcReduction="10000"/>
          </a:bodyPr>
          <a:lstStyle/>
          <a:p>
            <a:pPr algn="ctr">
              <a:defRPr sz="2300" b="0">
                <a:solidFill>
                  <a:srgbClr val="262626"/>
                </a:solidFill>
                <a:latin typeface="Aptos"/>
              </a:defRPr>
            </a:pPr>
            <a:r>
              <a:t>Prediction helps identify risk. Causal inference helps choose 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The minimal vocabulary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313780"/>
              </p:ext>
            </p:extLst>
          </p:nvPr>
        </p:nvGraphicFramePr>
        <p:xfrm>
          <a:off x="502920" y="1234440"/>
          <a:ext cx="112014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0392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Term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n-US" dirty="0"/>
                        <a:t>M</a:t>
                      </a:r>
                      <a:r>
                        <a:rPr dirty="0"/>
                        <a:t>eaning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Example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Unit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dirty="0"/>
                        <a:t>The object we compare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student, user, patient, school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Treatment / exposure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dirty="0"/>
                        <a:t>The thing we might change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tutoring, email, Stanford attendance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Outcome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dirty="0"/>
                        <a:t>The result we care about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score, churn, earnings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Comparison group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The substitute for the missing counterfactual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dirty="0"/>
                        <a:t>similar students without tutoring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94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DISCUSSION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508760"/>
            <a:ext cx="1024128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Classify each question: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514350" indent="-514350">
              <a:buAutoNum type="arabicPeriod"/>
            </a:pPr>
            <a:r>
              <a:rPr lang="en-US" sz="26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users are likely to churn?</a:t>
            </a:r>
          </a:p>
          <a:p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   Would a discount reduce churn?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   Which colleges have high-earning graduates?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</a:t>
            </a:r>
            <a:r>
              <a:rPr lang="zh-CN" altLang="en-US" sz="26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</a:t>
            </a:r>
            <a:r>
              <a:rPr lang="en-US" sz="26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Would attending Stanford increase earnings?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652881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D4F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18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147572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D4F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Lecture 18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2397642"/>
            <a:ext cx="1965960" cy="411480"/>
          </a:xfrm>
          <a:prstGeom prst="rect">
            <a:avLst/>
          </a:prstGeom>
          <a:noFill/>
        </p:spPr>
        <p:txBody>
          <a:bodyPr wrap="square" lIns="73152" tIns="27432" rIns="73152" bIns="27432">
            <a:normAutofit lnSpcReduction="10000"/>
          </a:bodyPr>
          <a:lstStyle/>
          <a:p>
            <a:pPr algn="ctr">
              <a:defRPr sz="2500" b="1" i="0">
                <a:solidFill>
                  <a:srgbClr val="8C151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3129162"/>
            <a:ext cx="2148840" cy="1143000"/>
          </a:xfrm>
          <a:prstGeom prst="roundRect">
            <a:avLst/>
          </a:prstGeom>
          <a:solidFill>
            <a:srgbClr val="F8F7F4"/>
          </a:solidFill>
          <a:ln w="1778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500" b="1">
                <a:solidFill>
                  <a:srgbClr val="262626"/>
                </a:solidFill>
                <a:latin typeface="Aptos"/>
              </a:defRPr>
            </a:pPr>
            <a:r>
              <a:t>Three suspicious</a:t>
            </a:r>
            <a:br/>
            <a:r>
              <a:t>correlations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06040" y="3705233"/>
            <a:ext cx="128016" cy="0"/>
          </a:xfrm>
          <a:prstGeom prst="line">
            <a:avLst/>
          </a:prstGeom>
          <a:ln w="25400">
            <a:solidFill>
              <a:srgbClr val="8C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5400000">
            <a:off x="2651760" y="3622938"/>
            <a:ext cx="164592" cy="164592"/>
          </a:xfrm>
          <a:prstGeom prst="triangle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43784" y="2397642"/>
            <a:ext cx="1965960" cy="411480"/>
          </a:xfrm>
          <a:prstGeom prst="rect">
            <a:avLst/>
          </a:prstGeom>
          <a:noFill/>
        </p:spPr>
        <p:txBody>
          <a:bodyPr wrap="square" lIns="73152" tIns="27432" rIns="73152" bIns="27432">
            <a:normAutofit lnSpcReduction="10000"/>
          </a:bodyPr>
          <a:lstStyle/>
          <a:p>
            <a:pPr algn="ctr">
              <a:defRPr sz="2500" b="1" i="0">
                <a:solidFill>
                  <a:srgbClr val="8C151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52344" y="3129162"/>
            <a:ext cx="2148840" cy="1143000"/>
          </a:xfrm>
          <a:prstGeom prst="roundRect">
            <a:avLst/>
          </a:prstGeom>
          <a:solidFill>
            <a:srgbClr val="F8F7F4"/>
          </a:solidFill>
          <a:ln w="1778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500" b="1">
                <a:solidFill>
                  <a:srgbClr val="262626"/>
                </a:solidFill>
                <a:latin typeface="Aptos"/>
              </a:defRPr>
            </a:pPr>
            <a:r>
              <a:t>Why each causal</a:t>
            </a:r>
            <a:br/>
            <a:r>
              <a:t>story can fail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19471" y="3705233"/>
            <a:ext cx="128017" cy="0"/>
          </a:xfrm>
          <a:prstGeom prst="line">
            <a:avLst/>
          </a:prstGeom>
          <a:ln w="25400">
            <a:solidFill>
              <a:srgbClr val="8C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4965192" y="3622938"/>
            <a:ext cx="164592" cy="164592"/>
          </a:xfrm>
          <a:prstGeom prst="triangle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57216" y="2397642"/>
            <a:ext cx="1965960" cy="411480"/>
          </a:xfrm>
          <a:prstGeom prst="rect">
            <a:avLst/>
          </a:prstGeom>
          <a:noFill/>
        </p:spPr>
        <p:txBody>
          <a:bodyPr wrap="square" lIns="73152" tIns="27432" rIns="73152" bIns="27432">
            <a:normAutofit lnSpcReduction="10000"/>
          </a:bodyPr>
          <a:lstStyle/>
          <a:p>
            <a:pPr algn="ctr">
              <a:defRPr sz="2500" b="1" i="0">
                <a:solidFill>
                  <a:srgbClr val="8C151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65776" y="3129162"/>
            <a:ext cx="2148840" cy="1143000"/>
          </a:xfrm>
          <a:prstGeom prst="roundRect">
            <a:avLst/>
          </a:prstGeom>
          <a:solidFill>
            <a:srgbClr val="F8F7F4"/>
          </a:solidFill>
          <a:ln w="1778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500" b="1">
                <a:solidFill>
                  <a:srgbClr val="262626"/>
                </a:solidFill>
                <a:latin typeface="Aptos"/>
              </a:defRPr>
            </a:pPr>
            <a:r>
              <a:t>Potential outcomes:</a:t>
            </a:r>
            <a:br/>
            <a:r>
              <a:t>missing half the 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232904" y="3705233"/>
            <a:ext cx="128016" cy="0"/>
          </a:xfrm>
          <a:prstGeom prst="line">
            <a:avLst/>
          </a:prstGeom>
          <a:ln w="25400">
            <a:solidFill>
              <a:srgbClr val="8C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7278624" y="3622938"/>
            <a:ext cx="164592" cy="164592"/>
          </a:xfrm>
          <a:prstGeom prst="triangle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70648" y="2397642"/>
            <a:ext cx="1965960" cy="411480"/>
          </a:xfrm>
          <a:prstGeom prst="rect">
            <a:avLst/>
          </a:prstGeom>
          <a:noFill/>
        </p:spPr>
        <p:txBody>
          <a:bodyPr wrap="square" lIns="73152" tIns="27432" rIns="73152" bIns="27432">
            <a:normAutofit lnSpcReduction="10000"/>
          </a:bodyPr>
          <a:lstStyle/>
          <a:p>
            <a:pPr algn="ctr">
              <a:defRPr sz="2500" b="1" i="0">
                <a:solidFill>
                  <a:srgbClr val="8C151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9208" y="3129162"/>
            <a:ext cx="2148840" cy="1143000"/>
          </a:xfrm>
          <a:prstGeom prst="roundRect">
            <a:avLst/>
          </a:prstGeom>
          <a:solidFill>
            <a:srgbClr val="F8F7F4"/>
          </a:solidFill>
          <a:ln w="1778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500" b="1">
                <a:solidFill>
                  <a:srgbClr val="262626"/>
                </a:solidFill>
                <a:latin typeface="Aptos"/>
              </a:defRPr>
            </a:pPr>
            <a:r>
              <a:t>Stanford premium:</a:t>
            </a:r>
            <a:br/>
            <a:r>
              <a:t>real association, hard causality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546336" y="3705233"/>
            <a:ext cx="128016" cy="0"/>
          </a:xfrm>
          <a:prstGeom prst="line">
            <a:avLst/>
          </a:prstGeom>
          <a:ln w="25400">
            <a:solidFill>
              <a:srgbClr val="8C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9592056" y="3622938"/>
            <a:ext cx="164592" cy="164592"/>
          </a:xfrm>
          <a:prstGeom prst="triangle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80" y="2397642"/>
            <a:ext cx="1965960" cy="411480"/>
          </a:xfrm>
          <a:prstGeom prst="rect">
            <a:avLst/>
          </a:prstGeom>
          <a:noFill/>
        </p:spPr>
        <p:txBody>
          <a:bodyPr wrap="square" lIns="73152" tIns="27432" rIns="73152" bIns="27432">
            <a:normAutofit lnSpcReduction="10000"/>
          </a:bodyPr>
          <a:lstStyle/>
          <a:p>
            <a:pPr algn="ctr">
              <a:defRPr sz="2500" b="1" i="0">
                <a:solidFill>
                  <a:srgbClr val="8C151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3129162"/>
            <a:ext cx="2148840" cy="1143000"/>
          </a:xfrm>
          <a:prstGeom prst="roundRect">
            <a:avLst/>
          </a:prstGeom>
          <a:solidFill>
            <a:srgbClr val="F8F7F4"/>
          </a:solidFill>
          <a:ln w="1778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500" b="1">
                <a:solidFill>
                  <a:srgbClr val="262626"/>
                </a:solidFill>
                <a:latin typeface="Aptos"/>
              </a:defRPr>
            </a:pPr>
            <a:r>
              <a:t>DAGs:</a:t>
            </a:r>
            <a:br/>
            <a:r>
              <a:t>first graphical language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A correlation can be true and still not causal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760220" y="1972818"/>
            <a:ext cx="8549640" cy="982927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/>
          </a:bodyPr>
          <a:lstStyle/>
          <a:p>
            <a:pPr algn="ctr">
              <a:defRPr sz="2500" b="0">
                <a:solidFill>
                  <a:srgbClr val="262626"/>
                </a:solidFill>
                <a:latin typeface="Aptos"/>
              </a:defRPr>
            </a:pPr>
            <a:r>
              <a:rPr dirty="0"/>
              <a:t>Correlation question: Do X and Y move together?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7EB164-32D6-8E42-0C71-FA5B0361E762}"/>
              </a:ext>
            </a:extLst>
          </p:cNvPr>
          <p:cNvSpPr txBox="1"/>
          <p:nvPr/>
        </p:nvSpPr>
        <p:spPr>
          <a:xfrm>
            <a:off x="574158" y="5073744"/>
            <a:ext cx="5886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Thinking: Some intuitions why these two are different?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CE9712B-1EC2-61AC-A016-92E5A43346B1}"/>
              </a:ext>
            </a:extLst>
          </p:cNvPr>
          <p:cNvSpPr/>
          <p:nvPr/>
        </p:nvSpPr>
        <p:spPr>
          <a:xfrm>
            <a:off x="1531089" y="3330756"/>
            <a:ext cx="9384827" cy="982927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/>
          </a:bodyPr>
          <a:lstStyle/>
          <a:p>
            <a:pPr algn="ctr">
              <a:defRPr sz="2500" b="0">
                <a:solidFill>
                  <a:srgbClr val="262626"/>
                </a:solidFill>
                <a:latin typeface="Aptos"/>
              </a:defRPr>
            </a:pPr>
            <a:r>
              <a:rPr dirty="0"/>
              <a:t>Causal question: If we intervened to change X, would Y change?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057400"/>
            <a:ext cx="10789920" cy="7772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norm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Aptos"/>
              </a:defRPr>
            </a:pPr>
            <a:r>
              <a:rPr dirty="0"/>
              <a:t>Three suspicious correlations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41148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1000" b="0" i="0">
                <a:solidFill>
                  <a:srgbClr val="CDCDCD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Three correlations to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375011"/>
              </p:ext>
            </p:extLst>
          </p:nvPr>
        </p:nvGraphicFramePr>
        <p:xfrm>
          <a:off x="495300" y="1980845"/>
          <a:ext cx="112014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1540">
                <a:tc>
                  <a:txBody>
                    <a:bodyPr/>
                    <a:lstStyle/>
                    <a:p>
                      <a:pPr algn="l"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Observed relationship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Naive causal question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Ice cream production and drowning deaths move together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Does ice cream increase drowning?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Places with more crime also have more police activity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Does police activity increase crime?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Selected groups sometimes have worse outcomes than non-selected groups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dirty="0"/>
                        <a:t>Did the treatment/selection make outcomes worse?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057400"/>
            <a:ext cx="10789920" cy="7772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norm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Aptos"/>
              </a:defRPr>
            </a:pPr>
            <a:r>
              <a:t>Case 1: confounding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880360"/>
            <a:ext cx="10607040" cy="77724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2400" b="0" i="0">
                <a:solidFill>
                  <a:srgbClr val="E6E6E6"/>
                </a:solidFill>
                <a:latin typeface="Aptos"/>
              </a:defRPr>
            </a:pPr>
            <a:r>
              <a:t>A third variable can create a real association.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41148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1000" b="0" i="0">
                <a:solidFill>
                  <a:srgbClr val="CDCDCD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Case 1: ice cream and drowning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cecream_drowning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768096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21040" y="2412528"/>
            <a:ext cx="3429000" cy="2549580"/>
          </a:xfrm>
          <a:prstGeom prst="roundRect">
            <a:avLst/>
          </a:prstGeom>
          <a:solidFill>
            <a:srgbClr val="FFF7F7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lnSpcReduction="10000"/>
          </a:bodyPr>
          <a:lstStyle/>
          <a:p>
            <a:pPr algn="ctr">
              <a:defRPr sz="2100" b="0">
                <a:solidFill>
                  <a:srgbClr val="262626"/>
                </a:solidFill>
                <a:latin typeface="Aptos"/>
              </a:defRPr>
            </a:pPr>
            <a:br>
              <a:rPr dirty="0"/>
            </a:br>
            <a:r>
              <a:rPr dirty="0"/>
              <a:t>Ice cream production is higher in months with more drowning deaths.</a:t>
            </a:r>
            <a:br>
              <a:rPr dirty="0"/>
            </a:br>
            <a:br>
              <a:rPr dirty="0"/>
            </a:br>
            <a:r>
              <a:rPr dirty="0"/>
              <a:t>Does ice cream cause drowning?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6646" y="6080760"/>
            <a:ext cx="9000461" cy="77724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2200" b="1" i="0">
                <a:solidFill>
                  <a:srgbClr val="262626"/>
                </a:solidFill>
                <a:latin typeface="Aptos"/>
              </a:defRPr>
            </a:pPr>
            <a:r>
              <a:rPr dirty="0">
                <a:solidFill>
                  <a:srgbClr val="FF0000"/>
                </a:solidFill>
              </a:rPr>
              <a:t>From a correlation perspective, the pattern is real.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rPr lang="en-US" dirty="0"/>
              <a:t>Notation: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344268"/>
              </p:ext>
            </p:extLst>
          </p:nvPr>
        </p:nvGraphicFramePr>
        <p:xfrm>
          <a:off x="914400" y="1417320"/>
          <a:ext cx="103327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 this example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Exposure X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Ice cream production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Outcome 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Drowning deaths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lang="en-US" dirty="0"/>
                        <a:t>Other </a:t>
                      </a:r>
                      <a:r>
                        <a:rPr dirty="0"/>
                        <a:t>factor</a:t>
                      </a:r>
                      <a:r>
                        <a:rPr lang="en-US" dirty="0"/>
                        <a:t>s</a:t>
                      </a:r>
                      <a:r>
                        <a:rPr dirty="0"/>
                        <a:t> Z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lang="en-US" dirty="0"/>
                        <a:t> ?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188720" y="4937760"/>
            <a:ext cx="9784080" cy="713232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fontScale="85000" lnSpcReduction="10000"/>
          </a:bodyPr>
          <a:lstStyle/>
          <a:p>
            <a:pPr algn="ctr">
              <a:defRPr sz="2400" b="0">
                <a:solidFill>
                  <a:srgbClr val="262626"/>
                </a:solidFill>
                <a:latin typeface="Aptos"/>
              </a:defRPr>
            </a:pPr>
            <a:r>
              <a:rPr dirty="0"/>
              <a:t>What </a:t>
            </a:r>
            <a:r>
              <a:rPr lang="en-US" dirty="0"/>
              <a:t>else </a:t>
            </a:r>
            <a:r>
              <a:rPr dirty="0"/>
              <a:t>changes between winter and summer besides ice cream production?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1DEF2-8F6F-C8C5-4D3E-6CCA38BD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2CD291-07AD-7E8E-D4B6-2846AC229480}"/>
              </a:ext>
            </a:extLst>
          </p:cNvPr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rPr lang="en-US" dirty="0"/>
              <a:t>Notation: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3BF174-A592-AEC6-15DF-9614493BEDEB}"/>
              </a:ext>
            </a:extLst>
          </p:cNvPr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A04F9D-D291-EEE3-DBC0-B382295EEA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883941"/>
              </p:ext>
            </p:extLst>
          </p:nvPr>
        </p:nvGraphicFramePr>
        <p:xfrm>
          <a:off x="914400" y="1417320"/>
          <a:ext cx="103327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 this example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Exposure X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Ice cream production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Outcome 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Drowning deaths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lang="en-US" dirty="0"/>
                        <a:t>Other </a:t>
                      </a:r>
                      <a:r>
                        <a:rPr dirty="0"/>
                        <a:t>factor</a:t>
                      </a:r>
                      <a:r>
                        <a:rPr lang="en-US" dirty="0"/>
                        <a:t>s</a:t>
                      </a:r>
                      <a:r>
                        <a:rPr dirty="0"/>
                        <a:t> Z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Season / temperature / swimming exposure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F690582-D72E-229F-C801-E1AB5297A482}"/>
              </a:ext>
            </a:extLst>
          </p:cNvPr>
          <p:cNvSpPr/>
          <p:nvPr/>
        </p:nvSpPr>
        <p:spPr>
          <a:xfrm>
            <a:off x="1188720" y="4937760"/>
            <a:ext cx="9784080" cy="713232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fontScale="85000" lnSpcReduction="10000"/>
          </a:bodyPr>
          <a:lstStyle/>
          <a:p>
            <a:pPr algn="ctr">
              <a:defRPr sz="2400" b="0">
                <a:solidFill>
                  <a:srgbClr val="262626"/>
                </a:solidFill>
                <a:latin typeface="Aptos"/>
              </a:defRPr>
            </a:pPr>
            <a:r>
              <a:rPr dirty="0"/>
              <a:t>What </a:t>
            </a:r>
            <a:r>
              <a:rPr lang="en-US" dirty="0"/>
              <a:t>else </a:t>
            </a:r>
            <a:r>
              <a:rPr dirty="0"/>
              <a:t>changes between winter and summer besides ice cream production?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52D347-4A81-1331-408F-4B3B97D9B931}"/>
              </a:ext>
            </a:extLst>
          </p:cNvPr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  <p:extLst>
      <p:ext uri="{BB962C8B-B14F-4D97-AF65-F5344CB8AC3E}">
        <p14:creationId xmlns:p14="http://schemas.microsoft.com/office/powerpoint/2010/main" val="2961051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Control for season: the relationship shrinks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cecream_season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" y="1143000"/>
            <a:ext cx="1131570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5715000"/>
            <a:ext cx="10515600" cy="594360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fontScale="70000" lnSpcReduction="20000"/>
          </a:bodyPr>
          <a:lstStyle/>
          <a:p>
            <a:pPr algn="ctr">
              <a:defRPr sz="2000" b="0">
                <a:solidFill>
                  <a:srgbClr val="262626"/>
                </a:solidFill>
                <a:latin typeface="Aptos"/>
              </a:defRPr>
            </a:pPr>
            <a:r>
              <a:t>After removing season-level differences, the correlation drops sharply. The original pattern was mostly about season/temperature, not ice cream itself.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Confounding: a common cause creates the association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8680" y="2331720"/>
            <a:ext cx="2148840" cy="914400"/>
          </a:xfrm>
          <a:prstGeom prst="roundRect">
            <a:avLst/>
          </a:prstGeom>
          <a:solidFill>
            <a:srgbClr val="FFF7E6"/>
          </a:solidFill>
          <a:ln w="17780"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700" b="1">
                <a:solidFill>
                  <a:srgbClr val="262626"/>
                </a:solidFill>
                <a:latin typeface="Aptos"/>
              </a:defRPr>
            </a:pPr>
            <a:r>
              <a:t>Warm weather</a:t>
            </a:r>
            <a:br/>
            <a:r>
              <a:t>/ summer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554480"/>
            <a:ext cx="2240280" cy="868680"/>
          </a:xfrm>
          <a:prstGeom prst="roundRect">
            <a:avLst/>
          </a:prstGeom>
          <a:solidFill>
            <a:srgbClr val="EEF6FC"/>
          </a:solidFill>
          <a:ln w="17780"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700" b="1">
                <a:solidFill>
                  <a:srgbClr val="262626"/>
                </a:solidFill>
                <a:latin typeface="Aptos"/>
              </a:defRPr>
            </a:pPr>
            <a:r>
              <a:t>Ice cream</a:t>
            </a:r>
            <a:br/>
            <a:r>
              <a:t>production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3429000"/>
            <a:ext cx="2240280" cy="868680"/>
          </a:xfrm>
          <a:prstGeom prst="roundRect">
            <a:avLst/>
          </a:prstGeom>
          <a:solidFill>
            <a:srgbClr val="EEF6FC"/>
          </a:solidFill>
          <a:ln w="17780"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700" b="1">
                <a:solidFill>
                  <a:srgbClr val="262626"/>
                </a:solidFill>
                <a:latin typeface="Aptos"/>
              </a:defRPr>
            </a:pPr>
            <a:r>
              <a:t>Swimming</a:t>
            </a:r>
            <a:br/>
            <a:r>
              <a:t>exposure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3429000"/>
            <a:ext cx="2148840" cy="868680"/>
          </a:xfrm>
          <a:prstGeom prst="roundRect">
            <a:avLst/>
          </a:prstGeom>
          <a:solidFill>
            <a:srgbClr val="FFF7F7"/>
          </a:solidFill>
          <a:ln w="1778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700" b="1">
                <a:solidFill>
                  <a:srgbClr val="262626"/>
                </a:solidFill>
                <a:latin typeface="Aptos"/>
              </a:defRPr>
            </a:pPr>
            <a:r>
              <a:t>Drowning</a:t>
            </a:r>
            <a:br/>
            <a:r>
              <a:t>risk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3017520" y="2011680"/>
            <a:ext cx="1600200" cy="640080"/>
          </a:xfrm>
          <a:prstGeom prst="line">
            <a:avLst/>
          </a:prstGeom>
          <a:ln w="25400">
            <a:solidFill>
              <a:srgbClr val="C668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4091915">
            <a:off x="4535424" y="1929384"/>
            <a:ext cx="164592" cy="164592"/>
          </a:xfrm>
          <a:prstGeom prst="triangle">
            <a:avLst/>
          </a:prstGeom>
          <a:solidFill>
            <a:srgbClr val="C66816"/>
          </a:solidFill>
          <a:ln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3017520" y="2971800"/>
            <a:ext cx="1600200" cy="914400"/>
          </a:xfrm>
          <a:prstGeom prst="line">
            <a:avLst/>
          </a:prstGeom>
          <a:ln w="25400">
            <a:solidFill>
              <a:srgbClr val="C668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7184693">
            <a:off x="4535424" y="3803904"/>
            <a:ext cx="164592" cy="164592"/>
          </a:xfrm>
          <a:prstGeom prst="triangle">
            <a:avLst/>
          </a:prstGeom>
          <a:solidFill>
            <a:srgbClr val="C66816"/>
          </a:solidFill>
          <a:ln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6858000" y="3886200"/>
            <a:ext cx="1737360" cy="0"/>
          </a:xfrm>
          <a:prstGeom prst="line">
            <a:avLst/>
          </a:prstGeom>
          <a:ln w="25400">
            <a:solidFill>
              <a:srgbClr val="8C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8513064" y="3803904"/>
            <a:ext cx="164592" cy="164592"/>
          </a:xfrm>
          <a:prstGeom prst="triangle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" y="5166360"/>
            <a:ext cx="10698480" cy="731520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fontScale="92500" lnSpcReduction="20000"/>
          </a:bodyPr>
          <a:lstStyle/>
          <a:p>
            <a:pPr algn="ctr">
              <a:defRPr sz="2200" b="0">
                <a:solidFill>
                  <a:srgbClr val="262626"/>
                </a:solidFill>
                <a:latin typeface="Aptos"/>
              </a:defRPr>
            </a:pPr>
            <a:r>
              <a:rPr dirty="0"/>
              <a:t>A </a:t>
            </a:r>
            <a:r>
              <a:rPr dirty="0">
                <a:solidFill>
                  <a:srgbClr val="FF0000"/>
                </a:solidFill>
              </a:rPr>
              <a:t>confounder</a:t>
            </a:r>
            <a:r>
              <a:rPr dirty="0"/>
              <a:t> is a common cause of the exposure and the outcome. It creates an association that is not the causal effect of X on 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Confounding is everywhere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2014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62990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Observed association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Possible confounder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Why it matters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2990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dirty="0"/>
                        <a:t>Bigger shoe size → better reading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Age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Older children have bigger feet and read better.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2990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Coffee drinking → heart disease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Smoking, lifestyle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Coffee drinkers may differ in other risk factors.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2990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Selective college → higher earnings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Family background / preparation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dirty="0"/>
                        <a:t>Students differ before college begins.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188720" y="5682996"/>
            <a:ext cx="9784080" cy="594360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/>
          </a:bodyPr>
          <a:lstStyle/>
          <a:p>
            <a:pPr algn="ctr">
              <a:defRPr sz="2300" b="0">
                <a:solidFill>
                  <a:srgbClr val="262626"/>
                </a:solidFill>
                <a:latin typeface="Aptos"/>
              </a:defRPr>
            </a:pPr>
            <a:r>
              <a:t>Question for any correlation: what common cause might affect both sides?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057400"/>
            <a:ext cx="10789920" cy="7772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norm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Aptos"/>
              </a:defRPr>
            </a:pPr>
            <a:r>
              <a:t>Case 2: reverse causality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880360"/>
            <a:ext cx="10607040" cy="77724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2400" b="0" i="0">
                <a:solidFill>
                  <a:srgbClr val="E6E6E6"/>
                </a:solidFill>
                <a:latin typeface="Aptos"/>
              </a:defRPr>
            </a:pPr>
            <a:r>
              <a:t>The direction of the arrow may be the opposite of the naive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41148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1000" b="0" i="0">
                <a:solidFill>
                  <a:srgbClr val="CDCDCD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Case 2: crime and enforcement activity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978408"/>
            <a:ext cx="11247120" cy="38404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1700" b="0" i="0">
                <a:solidFill>
                  <a:srgbClr val="5C5C5C"/>
                </a:solidFill>
                <a:latin typeface="Aptos"/>
              </a:defRPr>
            </a:pPr>
            <a:r>
              <a:t>The positive association does not settle the causal direction.</a:t>
            </a:r>
          </a:p>
        </p:txBody>
      </p:sp>
      <p:pic>
        <p:nvPicPr>
          <p:cNvPr id="5" name="Picture 4" descr="crime_enforcement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768096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21040" y="2385840"/>
            <a:ext cx="3429000" cy="2331720"/>
          </a:xfrm>
          <a:prstGeom prst="roundRect">
            <a:avLst/>
          </a:prstGeom>
          <a:solidFill>
            <a:srgbClr val="FFF7F7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fontScale="92500" lnSpcReduction="10000"/>
          </a:bodyPr>
          <a:lstStyle/>
          <a:p>
            <a:pPr algn="ctr">
              <a:defRPr sz="2000" b="0">
                <a:solidFill>
                  <a:srgbClr val="262626"/>
                </a:solidFill>
                <a:latin typeface="Aptos"/>
              </a:defRPr>
            </a:pPr>
            <a:br>
              <a:rPr dirty="0"/>
            </a:br>
            <a:r>
              <a:rPr dirty="0"/>
              <a:t>Communities with more crime also report more enforcement activity.</a:t>
            </a:r>
            <a:br>
              <a:rPr dirty="0"/>
            </a:br>
            <a:br>
              <a:rPr dirty="0"/>
            </a:br>
            <a:r>
              <a:rPr dirty="0"/>
              <a:t>Does enforcement activity increase crime?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6215" y="5925312"/>
            <a:ext cx="7680960" cy="77724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2200" b="1" i="0">
                <a:solidFill>
                  <a:srgbClr val="262626"/>
                </a:solidFill>
                <a:latin typeface="Aptos"/>
              </a:defRPr>
            </a:pPr>
            <a:r>
              <a:rPr dirty="0">
                <a:solidFill>
                  <a:srgbClr val="FF0000"/>
                </a:solidFill>
              </a:rPr>
              <a:t>Correlation alone cannot decide which arrow is correct.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 fontScale="92500"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Reverse causality: the same correlation can fit different arrows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4572000" cy="320040"/>
          </a:xfrm>
          <a:prstGeom prst="rect">
            <a:avLst/>
          </a:prstGeom>
          <a:noFill/>
        </p:spPr>
        <p:txBody>
          <a:bodyPr wrap="square" lIns="73152" tIns="27432" rIns="73152" bIns="27432">
            <a:normAutofit fontScale="85000" lnSpcReduction="20000"/>
          </a:bodyPr>
          <a:lstStyle/>
          <a:p>
            <a:pPr algn="l">
              <a:defRPr sz="2300" b="1" i="0">
                <a:solidFill>
                  <a:srgbClr val="8C1515"/>
                </a:solidFill>
                <a:latin typeface="Aptos"/>
              </a:defRPr>
            </a:pPr>
            <a:r>
              <a:t>Naive causal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57400"/>
            <a:ext cx="1828800" cy="868680"/>
          </a:xfrm>
          <a:prstGeom prst="roundRect">
            <a:avLst/>
          </a:prstGeom>
          <a:solidFill>
            <a:srgbClr val="FFF7F7"/>
          </a:solidFill>
          <a:ln w="1778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Police</a:t>
            </a:r>
            <a:br/>
            <a:r>
              <a:t>action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88920" y="2487168"/>
            <a:ext cx="1783080" cy="0"/>
          </a:xfrm>
          <a:prstGeom prst="line">
            <a:avLst/>
          </a:prstGeom>
          <a:ln w="25400">
            <a:solidFill>
              <a:srgbClr val="8C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5400000">
            <a:off x="4489704" y="2404872"/>
            <a:ext cx="164592" cy="164592"/>
          </a:xfrm>
          <a:prstGeom prst="triangle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617720" y="2057400"/>
            <a:ext cx="1828800" cy="868680"/>
          </a:xfrm>
          <a:prstGeom prst="roundRect">
            <a:avLst/>
          </a:prstGeom>
          <a:solidFill>
            <a:srgbClr val="FFF7F7"/>
          </a:solidFill>
          <a:ln w="1778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Crime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4572000" cy="320040"/>
          </a:xfrm>
          <a:prstGeom prst="rect">
            <a:avLst/>
          </a:prstGeom>
          <a:noFill/>
        </p:spPr>
        <p:txBody>
          <a:bodyPr wrap="square" lIns="73152" tIns="27432" rIns="73152" bIns="27432">
            <a:normAutofit fontScale="85000" lnSpcReduction="20000"/>
          </a:bodyPr>
          <a:lstStyle/>
          <a:p>
            <a:pPr algn="l">
              <a:defRPr sz="2300" b="1" i="0">
                <a:solidFill>
                  <a:srgbClr val="2A6694"/>
                </a:solidFill>
                <a:latin typeface="Aptos"/>
              </a:defRPr>
            </a:pPr>
            <a:r>
              <a:t>Alternative causal reading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43400"/>
            <a:ext cx="1828800" cy="868680"/>
          </a:xfrm>
          <a:prstGeom prst="roundRect">
            <a:avLst/>
          </a:prstGeom>
          <a:solidFill>
            <a:srgbClr val="EEF6FC"/>
          </a:solidFill>
          <a:ln w="17780"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Crime</a:t>
            </a:r>
            <a:br/>
            <a:r>
              <a:t>risk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88920" y="4773168"/>
            <a:ext cx="1783080" cy="0"/>
          </a:xfrm>
          <a:prstGeom prst="line">
            <a:avLst/>
          </a:prstGeom>
          <a:ln w="25400">
            <a:solidFill>
              <a:srgbClr val="2A66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4489704" y="4690872"/>
            <a:ext cx="164592" cy="164592"/>
          </a:xfrm>
          <a:prstGeom prst="triangle">
            <a:avLst/>
          </a:prstGeom>
          <a:solidFill>
            <a:srgbClr val="2A6694"/>
          </a:solidFill>
          <a:ln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617720" y="4343400"/>
            <a:ext cx="1828800" cy="868680"/>
          </a:xfrm>
          <a:prstGeom prst="roundRect">
            <a:avLst/>
          </a:prstGeom>
          <a:solidFill>
            <a:srgbClr val="EEF6FC"/>
          </a:solidFill>
          <a:ln w="17780"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Police</a:t>
            </a:r>
            <a:br/>
            <a:r>
              <a:t>assigned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1874519"/>
            <a:ext cx="4389120" cy="2057400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fontScale="92500" lnSpcReduction="10000"/>
          </a:bodyPr>
          <a:lstStyle/>
          <a:p>
            <a:pPr algn="ctr">
              <a:defRPr sz="2200" b="0">
                <a:solidFill>
                  <a:srgbClr val="262626"/>
                </a:solidFill>
                <a:latin typeface="Aptos"/>
              </a:defRPr>
            </a:pPr>
            <a:r>
              <a:rPr dirty="0"/>
              <a:t>The correlation can be correct in both stories. </a:t>
            </a:r>
            <a:endParaRPr lang="en-US" dirty="0"/>
          </a:p>
          <a:p>
            <a:pPr algn="ctr">
              <a:defRPr sz="2200" b="0">
                <a:solidFill>
                  <a:srgbClr val="262626"/>
                </a:solidFill>
                <a:latin typeface="Aptos"/>
              </a:defRPr>
            </a:pPr>
            <a:endParaRPr lang="en-US" dirty="0"/>
          </a:p>
          <a:p>
            <a:pPr algn="ctr">
              <a:defRPr sz="2200" b="0">
                <a:solidFill>
                  <a:srgbClr val="262626"/>
                </a:solidFill>
                <a:latin typeface="Aptos"/>
              </a:defRPr>
            </a:pPr>
            <a:r>
              <a:rPr dirty="0"/>
              <a:t>Causal inference asks what would happen under an intervention, not just which variables move together.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Reverse causality: more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110185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74420"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Observed relationship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Naive claim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Alternative direction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442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More medicine, worse health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Medicine makes people sick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Sicker people take more medicine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442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More consultants, poor firm performance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Consultants hurt firms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Struggling firms hire consultants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442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More hospital care, higher mortality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Hospitals harm patients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Sicker patients receive more care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How do we handle reverse causality?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136142"/>
            <a:ext cx="10789920" cy="4206240"/>
          </a:xfrm>
          <a:prstGeom prst="rect">
            <a:avLst/>
          </a:prstGeom>
          <a:noFill/>
        </p:spPr>
        <p:txBody>
          <a:bodyPr wrap="square" lIns="164592" tIns="18288" rIns="73152" bIns="18288">
            <a:normAutofit/>
          </a:bodyPr>
          <a:lstStyle/>
          <a:p>
            <a:pPr>
              <a:spcAft>
                <a:spcPts val="700"/>
              </a:spcAft>
              <a:defRPr sz="2500">
                <a:solidFill>
                  <a:srgbClr val="262626"/>
                </a:solidFill>
                <a:latin typeface="Aptos"/>
              </a:defRPr>
            </a:pPr>
            <a:r>
              <a:rPr dirty="0"/>
              <a:t>Use timing: cause must precede effect.</a:t>
            </a:r>
            <a:endParaRPr lang="en-US" dirty="0"/>
          </a:p>
          <a:p>
            <a:pPr>
              <a:spcAft>
                <a:spcPts val="700"/>
              </a:spcAft>
              <a:defRPr sz="2500">
                <a:solidFill>
                  <a:srgbClr val="262626"/>
                </a:solidFill>
                <a:latin typeface="Aptos"/>
              </a:defRPr>
            </a:pPr>
            <a:endParaRPr dirty="0"/>
          </a:p>
          <a:p>
            <a:pPr>
              <a:spcAft>
                <a:spcPts val="700"/>
              </a:spcAft>
              <a:defRPr sz="2500">
                <a:solidFill>
                  <a:srgbClr val="262626"/>
                </a:solidFill>
                <a:latin typeface="Aptos"/>
              </a:defRPr>
            </a:pPr>
            <a:r>
              <a:rPr dirty="0"/>
              <a:t>Use interventions: what happens if we change X directly?</a:t>
            </a:r>
            <a:endParaRPr lang="en-US" dirty="0"/>
          </a:p>
          <a:p>
            <a:pPr>
              <a:spcAft>
                <a:spcPts val="700"/>
              </a:spcAft>
              <a:defRPr sz="2500">
                <a:solidFill>
                  <a:srgbClr val="262626"/>
                </a:solidFill>
                <a:latin typeface="Aptos"/>
              </a:defRPr>
            </a:pPr>
            <a:endParaRPr dirty="0"/>
          </a:p>
          <a:p>
            <a:pPr>
              <a:spcAft>
                <a:spcPts val="700"/>
              </a:spcAft>
              <a:defRPr sz="2500">
                <a:solidFill>
                  <a:srgbClr val="262626"/>
                </a:solidFill>
                <a:latin typeface="Aptos"/>
              </a:defRPr>
            </a:pPr>
            <a:r>
              <a:rPr dirty="0"/>
              <a:t>Use research designs</a:t>
            </a:r>
            <a:r>
              <a:rPr lang="en-US" dirty="0"/>
              <a:t> (next lecture)</a:t>
            </a:r>
            <a:r>
              <a:rPr dirty="0"/>
              <a:t>: randomization or external shocks can create a direction.</a:t>
            </a:r>
            <a:endParaRPr lang="en-US" dirty="0"/>
          </a:p>
          <a:p>
            <a:pPr>
              <a:spcAft>
                <a:spcPts val="700"/>
              </a:spcAft>
              <a:defRPr sz="2500">
                <a:solidFill>
                  <a:srgbClr val="262626"/>
                </a:solidFill>
                <a:latin typeface="Aptos"/>
              </a:defRPr>
            </a:pPr>
            <a:endParaRPr dirty="0"/>
          </a:p>
          <a:p>
            <a:pPr>
              <a:spcAft>
                <a:spcPts val="700"/>
              </a:spcAft>
              <a:defRPr sz="2500">
                <a:solidFill>
                  <a:srgbClr val="262626"/>
                </a:solidFill>
                <a:latin typeface="Aptos"/>
              </a:defRPr>
            </a:pPr>
            <a:r>
              <a:rPr dirty="0"/>
              <a:t>Use DAGs</a:t>
            </a:r>
            <a:r>
              <a:rPr lang="zh-CN" altLang="en-US" dirty="0"/>
              <a:t> </a:t>
            </a:r>
            <a:r>
              <a:rPr lang="en-US" altLang="zh-CN" dirty="0"/>
              <a:t>(more on this latter)</a:t>
            </a:r>
            <a:r>
              <a:rPr dirty="0"/>
              <a:t>: write down which arrows we believe before interpreting a coefficient.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577840"/>
            <a:ext cx="9875520" cy="594360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fontScale="85000" lnSpcReduction="10000"/>
          </a:bodyPr>
          <a:lstStyle/>
          <a:p>
            <a:pPr algn="ctr">
              <a:defRPr sz="2200" b="0">
                <a:solidFill>
                  <a:srgbClr val="262626"/>
                </a:solidFill>
                <a:latin typeface="Aptos"/>
              </a:defRPr>
            </a:pPr>
            <a:r>
              <a:t>The data pattern alone is not enough; we need a causal story plus a credible comparison.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057400"/>
            <a:ext cx="10789920" cy="7772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norm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Aptos"/>
              </a:defRPr>
            </a:pPr>
            <a:r>
              <a:t>Case 3: selection and Simpson’s paradox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880360"/>
            <a:ext cx="10607040" cy="77724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2400" b="0" i="0">
                <a:solidFill>
                  <a:srgbClr val="E6E6E6"/>
                </a:solidFill>
                <a:latin typeface="Aptos"/>
              </a:defRPr>
            </a:pPr>
            <a:r>
              <a:t>The comparison groups may have been formed in systematically different ways.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41148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1000" b="0" i="0">
                <a:solidFill>
                  <a:srgbClr val="CDCDCD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Selection bias is about group 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 fontScale="92500" lnSpcReduction="10000"/>
          </a:bodyPr>
          <a:lstStyle/>
          <a:p>
            <a:pPr algn="ctr">
              <a:defRPr sz="3100" b="1" i="0">
                <a:solidFill>
                  <a:srgbClr val="262626"/>
                </a:solidFill>
                <a:latin typeface="Aptos"/>
              </a:defRPr>
            </a:pPr>
            <a:r>
              <a:t>The treated group is often not a random group.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48840"/>
            <a:ext cx="9966960" cy="1005840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fontScale="92500"/>
          </a:bodyPr>
          <a:lstStyle/>
          <a:p>
            <a:pPr algn="ctr">
              <a:defRPr sz="2400" b="0">
                <a:solidFill>
                  <a:srgbClr val="262626"/>
                </a:solidFill>
                <a:latin typeface="Aptos"/>
              </a:defRPr>
            </a:pPr>
            <a:r>
              <a:t>People may select into treatment, or be selected into treatment, because they are already higher-risk, higher-need, or different on background variables.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3840480"/>
          <a:ext cx="1033272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Example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Who selects into treatment?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Tutoring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Students who are already struggling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Retention emails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Users predicted to be likely to churn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Insurance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People expecting higher medical costs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Simpson’s paradox: aggregation can reverse the story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berkeley_simp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3358"/>
            <a:ext cx="7635240" cy="406848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15955" y="2519968"/>
            <a:ext cx="3429000" cy="2103120"/>
          </a:xfrm>
          <a:prstGeom prst="roundRect">
            <a:avLst/>
          </a:prstGeom>
          <a:solidFill>
            <a:srgbClr val="FFF7F7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lnSpcReduction="10000"/>
          </a:bodyPr>
          <a:lstStyle/>
          <a:p>
            <a:pPr algn="ctr">
              <a:defRPr sz="2000" b="0">
                <a:solidFill>
                  <a:srgbClr val="262626"/>
                </a:solidFill>
                <a:latin typeface="Aptos"/>
              </a:defRPr>
            </a:pPr>
            <a:br>
              <a:rPr dirty="0"/>
            </a:br>
            <a:r>
              <a:rPr dirty="0"/>
              <a:t>If the overall admission rates differ sharply, does the aggregate comparison alone explain the mechanism?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56391" y="5925950"/>
            <a:ext cx="8995144" cy="662302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2100" b="1" i="0">
                <a:solidFill>
                  <a:srgbClr val="262626"/>
                </a:solidFill>
                <a:latin typeface="Aptos"/>
              </a:defRPr>
            </a:pPr>
            <a:r>
              <a:rPr dirty="0">
                <a:solidFill>
                  <a:srgbClr val="FF0000"/>
                </a:solidFill>
              </a:rPr>
              <a:t>The aggregate combines groups with different baseline admission rates.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Selection example: tutoring looks harmful overall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703790"/>
              </p:ext>
            </p:extLst>
          </p:nvPr>
        </p:nvGraphicFramePr>
        <p:xfrm>
          <a:off x="3508744" y="1136904"/>
          <a:ext cx="4754880" cy="2298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 algn="l">
                        <a:defRPr sz="2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Group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Average score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l">
                        <a:defRPr sz="24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Received tutoring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4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76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l">
                        <a:defRPr sz="24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No tutoring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4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dirty="0"/>
                        <a:t>84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7442" y="3671316"/>
            <a:ext cx="11277600" cy="822960"/>
          </a:xfrm>
          <a:prstGeom prst="roundRect">
            <a:avLst/>
          </a:prstGeom>
          <a:solidFill>
            <a:srgbClr val="FFF7F7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/>
          </a:bodyPr>
          <a:lstStyle/>
          <a:p>
            <a:pPr algn="ctr">
              <a:defRPr sz="2500" b="0">
                <a:solidFill>
                  <a:srgbClr val="262626"/>
                </a:solidFill>
                <a:latin typeface="Aptos"/>
              </a:defRPr>
            </a:pPr>
            <a:r>
              <a:rPr dirty="0"/>
              <a:t>Naive causal question:</a:t>
            </a:r>
            <a:r>
              <a:rPr lang="en-US" dirty="0"/>
              <a:t>  </a:t>
            </a:r>
            <a:r>
              <a:rPr dirty="0"/>
              <a:t>Does tutoring lower scores by 8 points?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26288" y="4898136"/>
            <a:ext cx="10419907" cy="822960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/>
          </a:bodyPr>
          <a:lstStyle/>
          <a:p>
            <a:pPr algn="ctr">
              <a:defRPr sz="2400" b="0">
                <a:solidFill>
                  <a:srgbClr val="262626"/>
                </a:solidFill>
                <a:latin typeface="Aptos"/>
              </a:defRPr>
            </a:pPr>
            <a:r>
              <a:rPr dirty="0"/>
              <a:t>But who was most likely to receive tutoring in the first place?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Within comparable groups, the story can reverse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110185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75360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Student group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Tutored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Not tutored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Within-group difference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5360"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Struggling students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72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68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+4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5360"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Strong students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92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88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+4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4800600"/>
            <a:ext cx="10424160" cy="868680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lnSpcReduction="10000"/>
          </a:bodyPr>
          <a:lstStyle/>
          <a:p>
            <a:pPr algn="ctr">
              <a:defRPr sz="2300" b="0">
                <a:solidFill>
                  <a:srgbClr val="262626"/>
                </a:solidFill>
                <a:latin typeface="Aptos"/>
              </a:defRPr>
            </a:pPr>
            <a:r>
              <a:t>Overall, tutored students looked worse because they were more likely to be struggling students. Within each preparation group, tutoring helped.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1264E-157B-9944-16D5-1EBAEF797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8D1773-D742-A06E-2CEB-F88EDE2D90B0}"/>
              </a:ext>
            </a:extLst>
          </p:cNvPr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rPr lang="en-US" dirty="0"/>
              <a:t>So… What happened?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2C7D61-7374-B5A6-41F6-990A09B665C3}"/>
              </a:ext>
            </a:extLst>
          </p:cNvPr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E91A23-F2A4-FF83-7C04-79013DE52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887307"/>
              </p:ext>
            </p:extLst>
          </p:nvPr>
        </p:nvGraphicFramePr>
        <p:xfrm>
          <a:off x="594360" y="1325880"/>
          <a:ext cx="110185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75360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Student group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Tutored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Not tutored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n-US" dirty="0"/>
                        <a:t>Proportion </a:t>
                      </a:r>
                      <a:endParaRPr dirty="0"/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5360"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Struggling students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lang="en-US" dirty="0"/>
                        <a:t>x</a:t>
                      </a:r>
                      <a:endParaRPr dirty="0"/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lang="en-US" dirty="0"/>
                        <a:t>1-x</a:t>
                      </a:r>
                      <a:endParaRPr dirty="0"/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lang="en-US" dirty="0"/>
                        <a:t>100%</a:t>
                      </a:r>
                      <a:endParaRPr dirty="0"/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5360"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Strong students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lang="en-US" dirty="0"/>
                        <a:t>y</a:t>
                      </a:r>
                      <a:endParaRPr dirty="0"/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lang="en-US" dirty="0"/>
                        <a:t>1-y</a:t>
                      </a:r>
                      <a:endParaRPr dirty="0"/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lang="en-US" dirty="0"/>
                        <a:t>100%</a:t>
                      </a:r>
                      <a:endParaRPr dirty="0"/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E201B4-E784-73EF-3218-C7B3993797CA}"/>
              </a:ext>
            </a:extLst>
          </p:cNvPr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9858A7-D83F-0EC1-FB85-26D4AF9A4FC6}"/>
              </a:ext>
            </a:extLst>
          </p:cNvPr>
          <p:cNvSpPr txBox="1"/>
          <p:nvPr/>
        </p:nvSpPr>
        <p:spPr>
          <a:xfrm>
            <a:off x="2594344" y="4575659"/>
            <a:ext cx="54226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Tutored group: 72x + 92y = 78</a:t>
            </a:r>
          </a:p>
          <a:p>
            <a:endParaRPr lang="en-US" sz="2400" dirty="0"/>
          </a:p>
          <a:p>
            <a:r>
              <a:rPr lang="en-US" sz="2400" dirty="0"/>
              <a:t>No tutored group: 68(1-x) + 88(1-y) =84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D31BBBB2-AC02-FD04-2304-61D5E642A76D}"/>
              </a:ext>
            </a:extLst>
          </p:cNvPr>
          <p:cNvSpPr/>
          <p:nvPr/>
        </p:nvSpPr>
        <p:spPr>
          <a:xfrm>
            <a:off x="7889358" y="4497572"/>
            <a:ext cx="255182" cy="1278416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BC8330-DDAF-6F3E-66E4-9850B94D182A}"/>
              </a:ext>
            </a:extLst>
          </p:cNvPr>
          <p:cNvSpPr txBox="1"/>
          <p:nvPr/>
        </p:nvSpPr>
        <p:spPr>
          <a:xfrm>
            <a:off x="8378456" y="4901290"/>
            <a:ext cx="2188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(x, y) = (0.8, 0.2)</a:t>
            </a:r>
          </a:p>
        </p:txBody>
      </p:sp>
    </p:spTree>
    <p:extLst>
      <p:ext uri="{BB962C8B-B14F-4D97-AF65-F5344CB8AC3E}">
        <p14:creationId xmlns:p14="http://schemas.microsoft.com/office/powerpoint/2010/main" val="26810616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86C58-80D4-82F8-B4B5-69C166E6E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A3F9FE-FBF5-27A4-86F8-8E40194C66A9}"/>
              </a:ext>
            </a:extLst>
          </p:cNvPr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rPr lang="en-US" dirty="0"/>
              <a:t>So… What happened?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0F1746-55C6-D33A-DF59-44DED990BF07}"/>
              </a:ext>
            </a:extLst>
          </p:cNvPr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C1D67C-E29F-EC7E-BDC5-E4447ECFB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514071"/>
              </p:ext>
            </p:extLst>
          </p:nvPr>
        </p:nvGraphicFramePr>
        <p:xfrm>
          <a:off x="594360" y="1325880"/>
          <a:ext cx="110185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75360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Student group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Tutored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Not tutored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n-US" dirty="0"/>
                        <a:t>Proportion </a:t>
                      </a:r>
                      <a:endParaRPr dirty="0"/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5360"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Struggling students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0.8</a:t>
                      </a:r>
                      <a:endParaRPr dirty="0">
                        <a:solidFill>
                          <a:srgbClr val="FF0000"/>
                        </a:solidFill>
                      </a:endParaRP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0.2</a:t>
                      </a:r>
                      <a:endParaRPr dirty="0">
                        <a:solidFill>
                          <a:srgbClr val="FF0000"/>
                        </a:solidFill>
                      </a:endParaRP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lang="en-US" dirty="0"/>
                        <a:t>100%</a:t>
                      </a:r>
                      <a:endParaRPr dirty="0"/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5360"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Strong students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0.2</a:t>
                      </a:r>
                      <a:endParaRPr dirty="0">
                        <a:solidFill>
                          <a:srgbClr val="FF0000"/>
                        </a:solidFill>
                      </a:endParaRP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0.8</a:t>
                      </a:r>
                      <a:endParaRPr dirty="0">
                        <a:solidFill>
                          <a:srgbClr val="FF0000"/>
                        </a:solidFill>
                      </a:endParaRP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lang="en-US" dirty="0"/>
                        <a:t>100%</a:t>
                      </a:r>
                      <a:endParaRPr dirty="0"/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E77DD99-6526-DBB5-7263-B107668DEE12}"/>
              </a:ext>
            </a:extLst>
          </p:cNvPr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077BAD-42B2-C946-0D5C-ECC0B3F163B7}"/>
              </a:ext>
            </a:extLst>
          </p:cNvPr>
          <p:cNvSpPr txBox="1"/>
          <p:nvPr/>
        </p:nvSpPr>
        <p:spPr>
          <a:xfrm>
            <a:off x="478465" y="5116621"/>
            <a:ext cx="113630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r>
              <a:rPr lang="en-US" sz="2400" dirty="0"/>
              <a:t>Struggling students tend to join the tutoring, which makes tutoring harmful.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55145F8-8F41-8151-4C22-5DF56370276B}"/>
              </a:ext>
            </a:extLst>
          </p:cNvPr>
          <p:cNvSpPr/>
          <p:nvPr/>
        </p:nvSpPr>
        <p:spPr>
          <a:xfrm>
            <a:off x="594360" y="4398454"/>
            <a:ext cx="11277600" cy="822960"/>
          </a:xfrm>
          <a:prstGeom prst="roundRect">
            <a:avLst/>
          </a:prstGeom>
          <a:solidFill>
            <a:srgbClr val="FFF7F7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Simple aggregation can be misleading! </a:t>
            </a:r>
          </a:p>
        </p:txBody>
      </p:sp>
    </p:spTree>
    <p:extLst>
      <p:ext uri="{BB962C8B-B14F-4D97-AF65-F5344CB8AC3E}">
        <p14:creationId xmlns:p14="http://schemas.microsoft.com/office/powerpoint/2010/main" val="39254538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Selection bias as a DAG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" y="2514600"/>
            <a:ext cx="2148840" cy="914400"/>
          </a:xfrm>
          <a:prstGeom prst="roundRect">
            <a:avLst/>
          </a:prstGeom>
          <a:solidFill>
            <a:srgbClr val="FFF7E6"/>
          </a:solidFill>
          <a:ln w="17780"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700" b="1">
                <a:solidFill>
                  <a:srgbClr val="262626"/>
                </a:solidFill>
                <a:latin typeface="Aptos"/>
              </a:defRPr>
            </a:pPr>
            <a:r>
              <a:t>Prior</a:t>
            </a:r>
            <a:br/>
            <a:r>
              <a:t>preparation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645920"/>
            <a:ext cx="2194560" cy="868680"/>
          </a:xfrm>
          <a:prstGeom prst="roundRect">
            <a:avLst/>
          </a:prstGeom>
          <a:solidFill>
            <a:srgbClr val="EEF6FC"/>
          </a:solidFill>
          <a:ln w="17780"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700" b="1">
                <a:solidFill>
                  <a:srgbClr val="262626"/>
                </a:solidFill>
                <a:latin typeface="Aptos"/>
              </a:defRPr>
            </a:pPr>
            <a:r>
              <a:t>Receives</a:t>
            </a:r>
            <a:br/>
            <a:r>
              <a:t>tutoring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3474720"/>
            <a:ext cx="2194560" cy="868680"/>
          </a:xfrm>
          <a:prstGeom prst="roundRect">
            <a:avLst/>
          </a:prstGeom>
          <a:solidFill>
            <a:srgbClr val="FFF7F7"/>
          </a:solidFill>
          <a:ln w="1778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700" b="1">
                <a:solidFill>
                  <a:srgbClr val="262626"/>
                </a:solidFill>
                <a:latin typeface="Aptos"/>
              </a:defRPr>
            </a:pPr>
            <a:r>
              <a:t>Exam</a:t>
            </a:r>
            <a:br/>
            <a:r>
              <a:t>score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2971800" y="2103120"/>
            <a:ext cx="1600200" cy="731520"/>
          </a:xfrm>
          <a:prstGeom prst="line">
            <a:avLst/>
          </a:prstGeom>
          <a:ln w="25400">
            <a:solidFill>
              <a:srgbClr val="C668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3925970">
            <a:off x="4489704" y="2020824"/>
            <a:ext cx="164592" cy="164592"/>
          </a:xfrm>
          <a:prstGeom prst="triangle">
            <a:avLst/>
          </a:prstGeom>
          <a:solidFill>
            <a:srgbClr val="C66816"/>
          </a:solidFill>
          <a:ln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2971800" y="3154680"/>
            <a:ext cx="5577840" cy="685800"/>
          </a:xfrm>
          <a:prstGeom prst="line">
            <a:avLst/>
          </a:prstGeom>
          <a:ln w="25400">
            <a:solidFill>
              <a:srgbClr val="C668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820563">
            <a:off x="8467344" y="3758184"/>
            <a:ext cx="164592" cy="164592"/>
          </a:xfrm>
          <a:prstGeom prst="triangle">
            <a:avLst/>
          </a:prstGeom>
          <a:solidFill>
            <a:srgbClr val="C66816"/>
          </a:solidFill>
          <a:ln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6766560" y="2103120"/>
            <a:ext cx="1783080" cy="1554480"/>
          </a:xfrm>
          <a:prstGeom prst="line">
            <a:avLst/>
          </a:prstGeom>
          <a:ln w="25400">
            <a:solidFill>
              <a:srgbClr val="2A66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7864905">
            <a:off x="8467344" y="3575304"/>
            <a:ext cx="164592" cy="164592"/>
          </a:xfrm>
          <a:prstGeom prst="triangle">
            <a:avLst/>
          </a:prstGeom>
          <a:solidFill>
            <a:srgbClr val="2A6694"/>
          </a:solidFill>
          <a:ln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8680" y="5166360"/>
            <a:ext cx="10698480" cy="777240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fontScale="92500" lnSpcReduction="10000"/>
          </a:bodyPr>
          <a:lstStyle/>
          <a:p>
            <a:pPr algn="ctr">
              <a:defRPr sz="2200" b="0">
                <a:solidFill>
                  <a:srgbClr val="262626"/>
                </a:solidFill>
                <a:latin typeface="Aptos"/>
              </a:defRPr>
            </a:pPr>
            <a:r>
              <a:t>Selection bias is often a form of confounding. The emphasis is not just “third variable,” but how the treatment group was formed before the comparison.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rPr dirty="0"/>
              <a:t>Three failure modes: </a:t>
            </a:r>
            <a:r>
              <a:rPr lang="en-US" dirty="0"/>
              <a:t>summary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913052"/>
              </p:ext>
            </p:extLst>
          </p:nvPr>
        </p:nvGraphicFramePr>
        <p:xfrm>
          <a:off x="594360" y="1325880"/>
          <a:ext cx="1101852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Failure mode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Core issue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Question to ask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Confounding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A third variable causes both X and Y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What common cause could explain this?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Reverse causality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The arrow may run from Y to X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Which direction is plausible?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dirty="0"/>
                        <a:t>Selection </a:t>
                      </a:r>
                      <a:r>
                        <a:rPr lang="en-US" dirty="0"/>
                        <a:t>bias</a:t>
                      </a:r>
                      <a:endParaRPr dirty="0"/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Groups differ before comparison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dirty="0"/>
                        <a:t>How were units selected into groups?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057400"/>
            <a:ext cx="10789920" cy="7772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norm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Aptos"/>
              </a:defRPr>
            </a:pPr>
            <a:r>
              <a:t>Potential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880360"/>
            <a:ext cx="10607040" cy="77724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2400" b="0" i="0">
                <a:solidFill>
                  <a:srgbClr val="E6E6E6"/>
                </a:solidFill>
                <a:latin typeface="Aptos"/>
              </a:defRPr>
            </a:pPr>
            <a:r>
              <a:t>Causal inference is hard because half the data are missing.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41148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1000" b="0" i="0">
                <a:solidFill>
                  <a:srgbClr val="CDCDCD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Potential outcomes: the missing half of the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algn="l"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Student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Score if tutored Y(1)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Score if not tutored Y(0)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Observed status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Maya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82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?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Tutored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Diego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?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75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Not tutored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Aisha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91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?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Tutored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Noah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?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70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Not tutored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" y="5532120"/>
            <a:ext cx="9966960" cy="5029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normAutofit/>
          </a:bodyPr>
          <a:lstStyle/>
          <a:p>
            <a:pPr algn="ctr">
              <a:defRPr sz="2700" b="1" i="0">
                <a:solidFill>
                  <a:srgbClr val="8C1515"/>
                </a:solidFill>
                <a:latin typeface="Aptos"/>
              </a:defRPr>
            </a:pPr>
            <a:r>
              <a:t>Individual causal effect = Y(1) − Y(0)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The fundamental problem of causal inference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743200" cy="960120"/>
          </a:xfrm>
          <a:prstGeom prst="roundRect">
            <a:avLst/>
          </a:prstGeom>
          <a:solidFill>
            <a:srgbClr val="EEF6FC"/>
          </a:solidFill>
          <a:ln w="17780"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900" b="1">
                <a:solidFill>
                  <a:srgbClr val="262626"/>
                </a:solidFill>
                <a:latin typeface="Aptos"/>
              </a:defRPr>
            </a:pPr>
            <a:r>
              <a:t>Same unit</a:t>
            </a:r>
            <a:br/>
            <a:r>
              <a:t>under treatment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703320"/>
            <a:ext cx="2743200" cy="960120"/>
          </a:xfrm>
          <a:prstGeom prst="roundRect">
            <a:avLst/>
          </a:prstGeom>
          <a:solidFill>
            <a:srgbClr val="FFF7F7"/>
          </a:solidFill>
          <a:ln w="1778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900" b="1">
                <a:solidFill>
                  <a:srgbClr val="262626"/>
                </a:solidFill>
                <a:latin typeface="Aptos"/>
              </a:defRPr>
            </a:pPr>
            <a:r>
              <a:t>Same unit</a:t>
            </a:r>
            <a:br/>
            <a:r>
              <a:t>without treatment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49039" y="2331720"/>
            <a:ext cx="1737361" cy="0"/>
          </a:xfrm>
          <a:prstGeom prst="line">
            <a:avLst/>
          </a:prstGeom>
          <a:ln w="25400">
            <a:solidFill>
              <a:srgbClr val="2A66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5400000">
            <a:off x="5404104" y="2249424"/>
            <a:ext cx="164592" cy="164592"/>
          </a:xfrm>
          <a:prstGeom prst="triangle">
            <a:avLst/>
          </a:prstGeom>
          <a:solidFill>
            <a:srgbClr val="2A6694"/>
          </a:solidFill>
          <a:ln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3749039" y="4206240"/>
            <a:ext cx="1737361" cy="0"/>
          </a:xfrm>
          <a:prstGeom prst="line">
            <a:avLst/>
          </a:prstGeom>
          <a:ln w="25400">
            <a:solidFill>
              <a:srgbClr val="8C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5404104" y="4123944"/>
            <a:ext cx="164592" cy="164592"/>
          </a:xfrm>
          <a:prstGeom prst="triangle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532120" y="1874519"/>
            <a:ext cx="2011680" cy="868680"/>
          </a:xfrm>
          <a:prstGeom prst="roundRect">
            <a:avLst/>
          </a:prstGeom>
          <a:solidFill>
            <a:srgbClr val="EDF7F2"/>
          </a:solidFill>
          <a:ln w="17780">
            <a:solidFill>
              <a:srgbClr val="268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800" b="1">
                <a:solidFill>
                  <a:srgbClr val="262626"/>
                </a:solidFill>
                <a:latin typeface="Aptos"/>
              </a:defRPr>
            </a:pPr>
            <a:r>
              <a:t>Observed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3749039"/>
            <a:ext cx="2011680" cy="868680"/>
          </a:xfrm>
          <a:prstGeom prst="roundRect">
            <a:avLst/>
          </a:prstGeom>
          <a:solidFill>
            <a:srgbClr val="ECECEC"/>
          </a:solidFill>
          <a:ln w="17780"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800" b="1">
                <a:solidFill>
                  <a:srgbClr val="262626"/>
                </a:solidFill>
                <a:latin typeface="Aptos"/>
              </a:defRPr>
            </a:pPr>
            <a:r>
              <a:t>Missing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2116" y="1531620"/>
            <a:ext cx="3474720" cy="4550096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/>
          </a:bodyPr>
          <a:lstStyle/>
          <a:p>
            <a:pPr algn="ctr">
              <a:defRPr sz="2200" b="0">
                <a:solidFill>
                  <a:srgbClr val="262626"/>
                </a:solidFill>
                <a:latin typeface="Aptos"/>
              </a:defRPr>
            </a:pPr>
            <a:r>
              <a:rPr dirty="0"/>
              <a:t>For each unit, we observe one potential outcome and do not observe the other.</a:t>
            </a:r>
            <a:endParaRPr lang="en-US" dirty="0"/>
          </a:p>
          <a:p>
            <a:pPr algn="ctr">
              <a:defRPr sz="2200" b="0">
                <a:solidFill>
                  <a:srgbClr val="262626"/>
                </a:solidFill>
                <a:latin typeface="Aptos"/>
              </a:defRPr>
            </a:pPr>
            <a:endParaRPr lang="en-US" dirty="0"/>
          </a:p>
          <a:p>
            <a:pPr algn="ctr">
              <a:defRPr sz="2200" b="0">
                <a:solidFill>
                  <a:srgbClr val="262626"/>
                </a:solidFill>
                <a:latin typeface="Aptos"/>
              </a:defRPr>
            </a:pPr>
            <a:endParaRPr lang="en-US" dirty="0"/>
          </a:p>
          <a:p>
            <a:pPr algn="ctr">
              <a:defRPr sz="2200" b="0">
                <a:solidFill>
                  <a:srgbClr val="262626"/>
                </a:solidFill>
                <a:latin typeface="Aptos"/>
              </a:defRPr>
            </a:pPr>
            <a:r>
              <a:rPr dirty="0"/>
              <a:t> Every causal method tries to construct a credible substitute for the missing outcome.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Raw difference is not automatically a causal effect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972800" cy="7315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normAutofit fontScale="85000" lnSpcReduction="10000"/>
          </a:bodyPr>
          <a:lstStyle/>
          <a:p>
            <a:pPr algn="ctr">
              <a:defRPr sz="3000" b="1" i="0">
                <a:solidFill>
                  <a:srgbClr val="8C1515"/>
                </a:solidFill>
                <a:latin typeface="Aptos"/>
              </a:defRPr>
            </a:pPr>
            <a:r>
              <a:rPr dirty="0"/>
              <a:t>Observed difference = </a:t>
            </a:r>
            <a:r>
              <a:rPr dirty="0">
                <a:solidFill>
                  <a:srgbClr val="FF0000"/>
                </a:solidFill>
              </a:rPr>
              <a:t>causal effect </a:t>
            </a:r>
            <a:r>
              <a:rPr dirty="0"/>
              <a:t>+ pre-existing group differences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3063240"/>
          <a:ext cx="10332720" cy="2584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l"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Question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What we need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Are treated and untreated groups different?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A descriptive comparison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Would treatment change the outcome?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A counterfactual comparison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dirty="0"/>
                        <a:t>Are the groups comparable before treatment?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dirty="0"/>
                        <a:t>A causal design or assumptions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Four ways to approximate the missing outcome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20140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6968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Strategy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Basic idea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Preview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Randomized experiment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Create comparable groups by random assignment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Lecture 19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Natural experiment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Find external as-if-random variation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Lecture 19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Difference-in-differences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Use a comparison group to subtract background trends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Lecture 19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DAG + adjustment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Use assumptions to compare similar units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Starts today; deepens next lecture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057400"/>
            <a:ext cx="10789920" cy="7772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norm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Aptos"/>
              </a:defRPr>
            </a:pPr>
            <a:r>
              <a:t>The Stanford 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41148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1000" b="0" i="0">
                <a:solidFill>
                  <a:srgbClr val="CDCDCD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The Stanford premium: the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1723644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lnSpcReduction="10000"/>
          </a:bodyPr>
          <a:lstStyle/>
          <a:p>
            <a:pPr algn="ctr">
              <a:defRPr sz="2500" b="0">
                <a:solidFill>
                  <a:srgbClr val="262626"/>
                </a:solidFill>
                <a:latin typeface="Aptos"/>
              </a:defRPr>
            </a:pPr>
            <a:r>
              <a:rPr dirty="0"/>
              <a:t>Suppose Stanford costs substantially more than a state school. Stanford graduates have high earnings. </a:t>
            </a:r>
            <a:endParaRPr lang="en-US" dirty="0"/>
          </a:p>
          <a:p>
            <a:pPr algn="ctr">
              <a:defRPr sz="2500" b="0">
                <a:solidFill>
                  <a:srgbClr val="262626"/>
                </a:solidFill>
                <a:latin typeface="Aptos"/>
              </a:defRPr>
            </a:pPr>
            <a:endParaRPr lang="en-US" dirty="0"/>
          </a:p>
          <a:p>
            <a:pPr algn="ctr">
              <a:defRPr sz="2500" b="0">
                <a:solidFill>
                  <a:srgbClr val="262626"/>
                </a:solidFill>
                <a:latin typeface="Aptos"/>
              </a:defRPr>
            </a:pPr>
            <a:r>
              <a:rPr lang="en-US" dirty="0"/>
              <a:t>However, i</a:t>
            </a:r>
            <a:r>
              <a:rPr dirty="0"/>
              <a:t>s the earnings difference caused by Stanford?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136803"/>
              </p:ext>
            </p:extLst>
          </p:nvPr>
        </p:nvGraphicFramePr>
        <p:xfrm>
          <a:off x="769620" y="3657600"/>
          <a:ext cx="106527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Prediction version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Causal version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Which schools have high-earning graduates?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Would this student earn more if they attended Stanford?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dirty="0"/>
                        <a:t>Uses observed patterns across schools.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dirty="0"/>
                        <a:t>Requires a missing counterfactual for the same student.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Stanford premium: the association is real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tanford_sat_earn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6120"/>
            <a:ext cx="7680960" cy="410295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60080" y="2464308"/>
            <a:ext cx="3429000" cy="2011680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fontScale="85000" lnSpcReduction="20000"/>
          </a:bodyPr>
          <a:lstStyle/>
          <a:p>
            <a:pPr algn="ctr">
              <a:defRPr sz="2200" b="0">
                <a:solidFill>
                  <a:srgbClr val="262626"/>
                </a:solidFill>
                <a:latin typeface="Aptos"/>
              </a:defRPr>
            </a:pPr>
            <a:r>
              <a:t>From a prediction perspective, the pattern is informative.</a:t>
            </a:r>
            <a:br/>
            <a:br/>
            <a:r>
              <a:t>But the plot compares different schools with different students.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58786" y="6039612"/>
            <a:ext cx="10098805" cy="86868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2100" b="1" i="0">
                <a:solidFill>
                  <a:srgbClr val="8C1515"/>
                </a:solidFill>
                <a:latin typeface="Aptos"/>
              </a:defRPr>
            </a:pPr>
            <a:r>
              <a:rPr dirty="0"/>
              <a:t>The graph does not show what the same student would have earned elsewhere.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The Stanford counterfactual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201399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1530"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Student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Earnings if attends Stanford Y(1)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Earnings if attends state school Y(0)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Observed?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Student A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?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$80K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State school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Student B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$130K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?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Stanford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Student C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$105K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?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Stanford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4933507"/>
            <a:ext cx="10332720" cy="1435289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/>
          </a:bodyPr>
          <a:lstStyle/>
          <a:p>
            <a:pPr algn="ctr">
              <a:defRPr sz="2300" b="0">
                <a:solidFill>
                  <a:srgbClr val="262626"/>
                </a:solidFill>
                <a:latin typeface="Aptos"/>
              </a:defRPr>
            </a:pPr>
            <a:r>
              <a:rPr dirty="0"/>
              <a:t>The causal question compares the </a:t>
            </a:r>
            <a:r>
              <a:rPr dirty="0">
                <a:solidFill>
                  <a:srgbClr val="FF0000"/>
                </a:solidFill>
              </a:rPr>
              <a:t>same student </a:t>
            </a:r>
            <a:r>
              <a:rPr dirty="0"/>
              <a:t>under two possible college choices. </a:t>
            </a:r>
            <a:endParaRPr lang="en-US" dirty="0"/>
          </a:p>
          <a:p>
            <a:pPr algn="ctr">
              <a:defRPr sz="2300" b="0">
                <a:solidFill>
                  <a:srgbClr val="262626"/>
                </a:solidFill>
                <a:latin typeface="Aptos"/>
              </a:defRPr>
            </a:pPr>
            <a:r>
              <a:rPr dirty="0"/>
              <a:t>The observed graph compares </a:t>
            </a:r>
            <a:r>
              <a:rPr dirty="0">
                <a:solidFill>
                  <a:srgbClr val="FF0000"/>
                </a:solidFill>
              </a:rPr>
              <a:t>different students </a:t>
            </a:r>
            <a:r>
              <a:rPr dirty="0"/>
              <a:t>at different schools.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Why the counterfactual is hard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tanford_pell_confou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05304"/>
            <a:ext cx="6949440" cy="29045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26679" y="1417320"/>
            <a:ext cx="3840480" cy="4389120"/>
          </a:xfrm>
          <a:prstGeom prst="rect">
            <a:avLst/>
          </a:prstGeom>
          <a:noFill/>
        </p:spPr>
        <p:txBody>
          <a:bodyPr wrap="square" lIns="164592" tIns="18288" rIns="73152" bIns="18288">
            <a:norm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262626"/>
                </a:solidFill>
                <a:latin typeface="Aptos"/>
              </a:defRPr>
            </a:pPr>
            <a:r>
              <a:t>Selective colleges do not enroll a random sample of students.</a:t>
            </a:r>
          </a:p>
          <a:p>
            <a:pPr>
              <a:spcAft>
                <a:spcPts val="700"/>
              </a:spcAft>
              <a:defRPr sz="2200">
                <a:solidFill>
                  <a:srgbClr val="262626"/>
                </a:solidFill>
                <a:latin typeface="Aptos"/>
              </a:defRPr>
            </a:pPr>
            <a:r>
              <a:t>Students differ before college: preparation, family resources, geography, networks, intended majors.</a:t>
            </a:r>
          </a:p>
          <a:p>
            <a:pPr>
              <a:spcAft>
                <a:spcPts val="700"/>
              </a:spcAft>
              <a:defRPr sz="2200">
                <a:solidFill>
                  <a:srgbClr val="262626"/>
                </a:solidFill>
                <a:latin typeface="Aptos"/>
              </a:defRPr>
            </a:pPr>
            <a:r>
              <a:t>Any comparison of earnings mixes school effects with pre-existing differences.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057400"/>
            <a:ext cx="10789920" cy="7772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norm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Aptos"/>
              </a:defRPr>
            </a:pPr>
            <a:r>
              <a:t>DAGs: first graphical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4114800" cy="27432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1000" b="0" i="0">
                <a:solidFill>
                  <a:srgbClr val="CDCDCD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What is a DAG?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17320"/>
          <a:ext cx="1033272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Term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Meaning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Directed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Arrows have direction: A causes B.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dirty="0"/>
                        <a:t>Acyclic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No causal loops inside the graph.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Graph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dirty="0"/>
                        <a:t>Variables are nodes; arrows are assumed direct causal links.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4983480"/>
            <a:ext cx="10332720" cy="822960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fontScale="92500" lnSpcReduction="20000"/>
          </a:bodyPr>
          <a:lstStyle/>
          <a:p>
            <a:pPr algn="ctr">
              <a:defRPr sz="2400" b="0">
                <a:solidFill>
                  <a:srgbClr val="262626"/>
                </a:solidFill>
                <a:latin typeface="Aptos"/>
              </a:defRPr>
            </a:pPr>
            <a:r>
              <a:t>A DAG is a causal story drawn with arrows. It is a statement of assumptions, not something the data automatically gives 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How to draw a DAG: a practical recipe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1120140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4860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Step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What to do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860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1. Start with the causal question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Identify treatment X and outcome Y.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860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2. List variables that occur before treatment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These can confound the comparison.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4860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3. Add arrows for causal influence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Do not draw arrows just because variables are correlated.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4860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4. Mark variables after treatment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These may be mediators or colliders.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4860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5. Ask what comparison the DAG implies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Which groups are comparable?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DAG example: Stanford and earnings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8680" y="2377440"/>
            <a:ext cx="2651760" cy="914400"/>
          </a:xfrm>
          <a:prstGeom prst="roundRect">
            <a:avLst/>
          </a:prstGeom>
          <a:solidFill>
            <a:srgbClr val="FFF7E6"/>
          </a:solidFill>
          <a:ln w="17780"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Family background /</a:t>
            </a:r>
            <a:br/>
            <a:r>
              <a:t>preparation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645920"/>
            <a:ext cx="2423160" cy="914400"/>
          </a:xfrm>
          <a:prstGeom prst="roundRect">
            <a:avLst/>
          </a:prstGeom>
          <a:solidFill>
            <a:srgbClr val="EEF6FC"/>
          </a:solidFill>
          <a:ln w="17780"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Attend selective</a:t>
            </a:r>
            <a:br/>
            <a:r>
              <a:t>college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3474720"/>
            <a:ext cx="2240280" cy="914400"/>
          </a:xfrm>
          <a:prstGeom prst="roundRect">
            <a:avLst/>
          </a:prstGeom>
          <a:solidFill>
            <a:srgbClr val="FFF7F7"/>
          </a:solidFill>
          <a:ln w="1778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Future</a:t>
            </a:r>
            <a:br/>
            <a:r>
              <a:t>earnings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520440" y="2103120"/>
            <a:ext cx="1188720" cy="594360"/>
          </a:xfrm>
          <a:prstGeom prst="line">
            <a:avLst/>
          </a:prstGeom>
          <a:ln w="25400">
            <a:solidFill>
              <a:srgbClr val="C668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3806097">
            <a:off x="4626864" y="2020824"/>
            <a:ext cx="164592" cy="164592"/>
          </a:xfrm>
          <a:prstGeom prst="triangle">
            <a:avLst/>
          </a:prstGeom>
          <a:solidFill>
            <a:srgbClr val="C66816"/>
          </a:solidFill>
          <a:ln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3520440" y="2971800"/>
            <a:ext cx="5212080" cy="914400"/>
          </a:xfrm>
          <a:prstGeom prst="line">
            <a:avLst/>
          </a:prstGeom>
          <a:ln w="25400">
            <a:solidFill>
              <a:srgbClr val="C668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997038">
            <a:off x="8650224" y="3803904"/>
            <a:ext cx="164592" cy="164592"/>
          </a:xfrm>
          <a:prstGeom prst="triangle">
            <a:avLst/>
          </a:prstGeom>
          <a:solidFill>
            <a:srgbClr val="C66816"/>
          </a:solidFill>
          <a:ln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7132320" y="2103120"/>
            <a:ext cx="1600200" cy="1554480"/>
          </a:xfrm>
          <a:prstGeom prst="line">
            <a:avLst/>
          </a:prstGeom>
          <a:ln w="25400">
            <a:solidFill>
              <a:srgbClr val="2A66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8050181">
            <a:off x="8650224" y="3575304"/>
            <a:ext cx="164592" cy="164592"/>
          </a:xfrm>
          <a:prstGeom prst="triangle">
            <a:avLst/>
          </a:prstGeom>
          <a:solidFill>
            <a:srgbClr val="2A6694"/>
          </a:solidFill>
          <a:ln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" y="5166360"/>
            <a:ext cx="10332720" cy="713232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fontScale="92500" lnSpcReduction="20000"/>
          </a:bodyPr>
          <a:lstStyle/>
          <a:p>
            <a:pPr algn="ctr">
              <a:defRPr sz="2200" b="0">
                <a:solidFill>
                  <a:srgbClr val="262626"/>
                </a:solidFill>
                <a:latin typeface="Aptos"/>
              </a:defRPr>
            </a:pPr>
            <a:r>
              <a:t>The DAG separates the causal path we care about from the noncausal path through background differences.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What a DAG can and cannot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234440"/>
          <a:ext cx="110185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2104"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DAGs can help us...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DAGs cannot...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Make assumptions explicit.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Prove the assumptions are true.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dirty="0"/>
                        <a:t>Separate causal paths from spurious paths.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Automatically estimate effects.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Discuss what to adjust for.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Save a bad research design.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Communicate the comparison we want.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rPr dirty="0"/>
                        <a:t>Replace domain knowledge.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Three DAG motifs to recognize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110185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82980"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Motif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Shape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First intuition</a:t>
                      </a:r>
                    </a:p>
                  </a:txBody>
                  <a:tcPr marL="73152" marR="73152" marT="36576" marB="36576">
                    <a:solidFill>
                      <a:srgbClr val="2E2D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Confounder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X ← Z → Y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Z makes X and Y move together.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Mediator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X → M → 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M is part of how X affects Y.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Collider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X → C ← Y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Conditioning on C can create a fake association.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97280" y="5532120"/>
            <a:ext cx="9875520" cy="594360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fontScale="92500"/>
          </a:bodyPr>
          <a:lstStyle/>
          <a:p>
            <a:pPr algn="ctr">
              <a:defRPr sz="2300" b="0">
                <a:solidFill>
                  <a:srgbClr val="262626"/>
                </a:solidFill>
                <a:latin typeface="Aptos"/>
              </a:defRPr>
            </a:pPr>
            <a:r>
              <a:t>Today: recognize the patterns. Lecture 19: use them to decide what to control for.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Motif 1: confounder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05840" y="2514600"/>
            <a:ext cx="2194560" cy="914400"/>
          </a:xfrm>
          <a:prstGeom prst="roundRect">
            <a:avLst/>
          </a:prstGeom>
          <a:solidFill>
            <a:srgbClr val="FFF7E6"/>
          </a:solidFill>
          <a:ln w="17780"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Z</a:t>
            </a:r>
            <a:br/>
            <a:r>
              <a:t>common cause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691640"/>
            <a:ext cx="2103120" cy="914400"/>
          </a:xfrm>
          <a:prstGeom prst="roundRect">
            <a:avLst/>
          </a:prstGeom>
          <a:solidFill>
            <a:srgbClr val="EEF6FC"/>
          </a:solidFill>
          <a:ln w="17780"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X</a:t>
            </a:r>
            <a:br/>
            <a:r>
              <a:t>treatment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3429000"/>
            <a:ext cx="2103120" cy="914400"/>
          </a:xfrm>
          <a:prstGeom prst="roundRect">
            <a:avLst/>
          </a:prstGeom>
          <a:solidFill>
            <a:srgbClr val="FFF7F7"/>
          </a:solidFill>
          <a:ln w="1778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Y</a:t>
            </a:r>
            <a:br/>
            <a:r>
              <a:t>outcome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200400" y="2148840"/>
            <a:ext cx="1508760" cy="640080"/>
          </a:xfrm>
          <a:prstGeom prst="line">
            <a:avLst/>
          </a:prstGeom>
          <a:ln w="25400">
            <a:solidFill>
              <a:srgbClr val="C668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4020677">
            <a:off x="4626864" y="2066544"/>
            <a:ext cx="164592" cy="164592"/>
          </a:xfrm>
          <a:prstGeom prst="triangle">
            <a:avLst/>
          </a:prstGeom>
          <a:solidFill>
            <a:srgbClr val="C66816"/>
          </a:solidFill>
          <a:ln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3200400" y="3154680"/>
            <a:ext cx="5303520" cy="685800"/>
          </a:xfrm>
          <a:prstGeom prst="line">
            <a:avLst/>
          </a:prstGeom>
          <a:ln w="25400">
            <a:solidFill>
              <a:srgbClr val="C668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842083">
            <a:off x="8421624" y="3758184"/>
            <a:ext cx="164592" cy="164592"/>
          </a:xfrm>
          <a:prstGeom prst="triangle">
            <a:avLst/>
          </a:prstGeom>
          <a:solidFill>
            <a:srgbClr val="C66816"/>
          </a:solidFill>
          <a:ln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6812280" y="2148840"/>
            <a:ext cx="1691640" cy="1508760"/>
          </a:xfrm>
          <a:prstGeom prst="line">
            <a:avLst/>
          </a:prstGeom>
          <a:ln w="25400">
            <a:solidFill>
              <a:srgbClr val="2A66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7903771">
            <a:off x="8421624" y="3575304"/>
            <a:ext cx="164592" cy="164592"/>
          </a:xfrm>
          <a:prstGeom prst="triangle">
            <a:avLst/>
          </a:prstGeom>
          <a:solidFill>
            <a:srgbClr val="2A6694"/>
          </a:solidFill>
          <a:ln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" y="5166360"/>
            <a:ext cx="10332720" cy="731520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fontScale="92500" lnSpcReduction="20000"/>
          </a:bodyPr>
          <a:lstStyle/>
          <a:p>
            <a:pPr algn="ctr">
              <a:defRPr sz="2200" b="0">
                <a:solidFill>
                  <a:srgbClr val="262626"/>
                </a:solidFill>
                <a:latin typeface="Aptos"/>
              </a:defRPr>
            </a:pPr>
            <a:r>
              <a:t>Example: preparation affects both tutoring and exam scores. This is the pattern behind many misleading treatment comparisons.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5B3586-374E-9185-831B-BA96DE49E5EF}"/>
              </a:ext>
            </a:extLst>
          </p:cNvPr>
          <p:cNvSpPr txBox="1"/>
          <p:nvPr/>
        </p:nvSpPr>
        <p:spPr>
          <a:xfrm>
            <a:off x="914400" y="4326225"/>
            <a:ext cx="76122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 confounder Z is a common cause for both treatment X and outcome Y.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Motif 2: mediator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" y="2468880"/>
            <a:ext cx="2194560" cy="914400"/>
          </a:xfrm>
          <a:prstGeom prst="roundRect">
            <a:avLst/>
          </a:prstGeom>
          <a:solidFill>
            <a:srgbClr val="EEF6FC"/>
          </a:solidFill>
          <a:ln w="17780"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X</a:t>
            </a:r>
            <a:br/>
            <a:r>
              <a:t>treatment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91840" y="2926080"/>
            <a:ext cx="1600200" cy="0"/>
          </a:xfrm>
          <a:prstGeom prst="line">
            <a:avLst/>
          </a:prstGeom>
          <a:ln w="25400">
            <a:solidFill>
              <a:srgbClr val="2A66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>
          <a:xfrm rot="5400000">
            <a:off x="4809744" y="2843784"/>
            <a:ext cx="164592" cy="164592"/>
          </a:xfrm>
          <a:prstGeom prst="triangle">
            <a:avLst/>
          </a:prstGeom>
          <a:solidFill>
            <a:srgbClr val="2A6694"/>
          </a:solidFill>
          <a:ln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892040" y="2468880"/>
            <a:ext cx="2011680" cy="914400"/>
          </a:xfrm>
          <a:prstGeom prst="roundRect">
            <a:avLst/>
          </a:prstGeom>
          <a:solidFill>
            <a:srgbClr val="FFF7E6"/>
          </a:solidFill>
          <a:ln w="17780"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M</a:t>
            </a:r>
            <a:br/>
            <a:r>
              <a:t>mechanism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903720" y="2926080"/>
            <a:ext cx="1645920" cy="0"/>
          </a:xfrm>
          <a:prstGeom prst="line">
            <a:avLst/>
          </a:prstGeom>
          <a:ln w="25400">
            <a:solidFill>
              <a:srgbClr val="2A66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8467344" y="2843784"/>
            <a:ext cx="164592" cy="164592"/>
          </a:xfrm>
          <a:prstGeom prst="triangle">
            <a:avLst/>
          </a:prstGeom>
          <a:solidFill>
            <a:srgbClr val="2A6694"/>
          </a:solidFill>
          <a:ln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49640" y="2468880"/>
            <a:ext cx="2194560" cy="914400"/>
          </a:xfrm>
          <a:prstGeom prst="roundRect">
            <a:avLst/>
          </a:prstGeom>
          <a:solidFill>
            <a:srgbClr val="FFF7F7"/>
          </a:solidFill>
          <a:ln w="1778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Y</a:t>
            </a:r>
            <a:br/>
            <a:r>
              <a:t>outcome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074920"/>
            <a:ext cx="10332720" cy="868680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lnSpcReduction="10000"/>
          </a:bodyPr>
          <a:lstStyle/>
          <a:p>
            <a:pPr algn="ctr">
              <a:defRPr sz="2200" b="0">
                <a:solidFill>
                  <a:srgbClr val="262626"/>
                </a:solidFill>
                <a:latin typeface="Aptos"/>
              </a:defRPr>
            </a:pPr>
            <a:r>
              <a:t>Example: college may affect alumni network, which may affect earnings. A mediator is part of the causal pathway, not a pre-treatment common cause.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F9327B-2701-E113-E29A-5F3FBE0EFD75}"/>
              </a:ext>
            </a:extLst>
          </p:cNvPr>
          <p:cNvSpPr txBox="1"/>
          <p:nvPr/>
        </p:nvSpPr>
        <p:spPr>
          <a:xfrm>
            <a:off x="1009790" y="4057589"/>
            <a:ext cx="70957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 mediator X is a captures how the treatment X effect outcome Y. 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8A403-4AD1-B0ED-050E-6C476CD5A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B7F12F-F9AF-57A5-E161-D7B279436F8B}"/>
              </a:ext>
            </a:extLst>
          </p:cNvPr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Motif 2: mediator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E41468-0A4C-F6B7-852B-1F63D14F8980}"/>
              </a:ext>
            </a:extLst>
          </p:cNvPr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C67D4A3-7EBB-4315-4A95-8C61DA163B92}"/>
              </a:ext>
            </a:extLst>
          </p:cNvPr>
          <p:cNvSpPr/>
          <p:nvPr/>
        </p:nvSpPr>
        <p:spPr>
          <a:xfrm>
            <a:off x="1097280" y="2468880"/>
            <a:ext cx="2194560" cy="914400"/>
          </a:xfrm>
          <a:prstGeom prst="roundRect">
            <a:avLst/>
          </a:prstGeom>
          <a:solidFill>
            <a:srgbClr val="EEF6FC"/>
          </a:solidFill>
          <a:ln w="17780"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X</a:t>
            </a:r>
            <a:br/>
            <a:r>
              <a:t>treatment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9A32033A-4E35-49F7-82DE-6B5B58236F3A}"/>
              </a:ext>
            </a:extLst>
          </p:cNvPr>
          <p:cNvCxnSpPr/>
          <p:nvPr/>
        </p:nvCxnSpPr>
        <p:spPr>
          <a:xfrm>
            <a:off x="3291840" y="2926080"/>
            <a:ext cx="1600200" cy="0"/>
          </a:xfrm>
          <a:prstGeom prst="line">
            <a:avLst/>
          </a:prstGeom>
          <a:ln w="25400">
            <a:solidFill>
              <a:srgbClr val="2A66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74B68197-FD5F-5BD5-C197-B1D33FD28F6C}"/>
              </a:ext>
            </a:extLst>
          </p:cNvPr>
          <p:cNvSpPr/>
          <p:nvPr/>
        </p:nvSpPr>
        <p:spPr>
          <a:xfrm rot="5400000">
            <a:off x="4809744" y="2843784"/>
            <a:ext cx="164592" cy="164592"/>
          </a:xfrm>
          <a:prstGeom prst="triangle">
            <a:avLst/>
          </a:prstGeom>
          <a:solidFill>
            <a:srgbClr val="2A6694"/>
          </a:solidFill>
          <a:ln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9906CE0-EA78-16E8-0685-82EA49732FB5}"/>
              </a:ext>
            </a:extLst>
          </p:cNvPr>
          <p:cNvSpPr/>
          <p:nvPr/>
        </p:nvSpPr>
        <p:spPr>
          <a:xfrm>
            <a:off x="4892040" y="2468880"/>
            <a:ext cx="2011680" cy="914400"/>
          </a:xfrm>
          <a:prstGeom prst="roundRect">
            <a:avLst/>
          </a:prstGeom>
          <a:solidFill>
            <a:srgbClr val="FFF7E6"/>
          </a:solidFill>
          <a:ln w="17780"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M</a:t>
            </a:r>
            <a:br/>
            <a:r>
              <a:t>mechanism</a:t>
            </a:r>
          </a:p>
        </p:txBody>
      </p: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FE123D68-9BCC-63AE-6FD5-A5D909CA623B}"/>
              </a:ext>
            </a:extLst>
          </p:cNvPr>
          <p:cNvCxnSpPr/>
          <p:nvPr/>
        </p:nvCxnSpPr>
        <p:spPr>
          <a:xfrm>
            <a:off x="6903720" y="2926080"/>
            <a:ext cx="1645920" cy="0"/>
          </a:xfrm>
          <a:prstGeom prst="line">
            <a:avLst/>
          </a:prstGeom>
          <a:ln w="25400">
            <a:solidFill>
              <a:srgbClr val="2A66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973237B9-A6D5-DDA7-7CC2-C86C0C734287}"/>
              </a:ext>
            </a:extLst>
          </p:cNvPr>
          <p:cNvSpPr/>
          <p:nvPr/>
        </p:nvSpPr>
        <p:spPr>
          <a:xfrm rot="5400000">
            <a:off x="8467344" y="2843784"/>
            <a:ext cx="164592" cy="164592"/>
          </a:xfrm>
          <a:prstGeom prst="triangle">
            <a:avLst/>
          </a:prstGeom>
          <a:solidFill>
            <a:srgbClr val="2A6694"/>
          </a:solidFill>
          <a:ln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8007113-6755-7524-D7BE-9824CEE64945}"/>
              </a:ext>
            </a:extLst>
          </p:cNvPr>
          <p:cNvSpPr/>
          <p:nvPr/>
        </p:nvSpPr>
        <p:spPr>
          <a:xfrm>
            <a:off x="8549640" y="2468880"/>
            <a:ext cx="2194560" cy="914400"/>
          </a:xfrm>
          <a:prstGeom prst="roundRect">
            <a:avLst/>
          </a:prstGeom>
          <a:solidFill>
            <a:srgbClr val="FFF7F7"/>
          </a:solidFill>
          <a:ln w="1778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Y</a:t>
            </a:r>
            <a:br/>
            <a:r>
              <a:t>outcome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5889E30-8F1A-6B4F-15BE-F1D7ED24EB70}"/>
              </a:ext>
            </a:extLst>
          </p:cNvPr>
          <p:cNvSpPr/>
          <p:nvPr/>
        </p:nvSpPr>
        <p:spPr>
          <a:xfrm>
            <a:off x="914400" y="5074920"/>
            <a:ext cx="10332720" cy="868680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lnSpcReduction="10000"/>
          </a:bodyPr>
          <a:lstStyle/>
          <a:p>
            <a:pPr algn="ctr">
              <a:defRPr sz="2200" b="0">
                <a:solidFill>
                  <a:srgbClr val="262626"/>
                </a:solidFill>
                <a:latin typeface="Aptos"/>
              </a:defRPr>
            </a:pPr>
            <a:r>
              <a:t>Example: college may affect alumni network, which may affect earnings. A mediator is part of the causal pathway, not a pre-treatment common cause.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0CF72E-3254-E7FF-9A3B-2EB1A4FEAE06}"/>
              </a:ext>
            </a:extLst>
          </p:cNvPr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6A0E9B-2907-3BCF-85A4-602EDBA08062}"/>
              </a:ext>
            </a:extLst>
          </p:cNvPr>
          <p:cNvSpPr txBox="1"/>
          <p:nvPr/>
        </p:nvSpPr>
        <p:spPr>
          <a:xfrm>
            <a:off x="1009790" y="4057589"/>
            <a:ext cx="70957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 mediator X is a captures how the treatment X effect outcome Y.  </a:t>
            </a:r>
          </a:p>
        </p:txBody>
      </p:sp>
    </p:spTree>
    <p:extLst>
      <p:ext uri="{BB962C8B-B14F-4D97-AF65-F5344CB8AC3E}">
        <p14:creationId xmlns:p14="http://schemas.microsoft.com/office/powerpoint/2010/main" val="24705177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4D931-EBE1-6B17-A362-DC842F9EC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5D61F5-82A2-0F7C-5553-8DE481C10F18}"/>
              </a:ext>
            </a:extLst>
          </p:cNvPr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Motif 2: mediator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F69DBA-D65D-95D7-5FD7-B33A52E69F22}"/>
              </a:ext>
            </a:extLst>
          </p:cNvPr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10E4009-89C0-3995-7CBF-29DFA9DB67D8}"/>
              </a:ext>
            </a:extLst>
          </p:cNvPr>
          <p:cNvSpPr/>
          <p:nvPr/>
        </p:nvSpPr>
        <p:spPr>
          <a:xfrm>
            <a:off x="1097280" y="2468880"/>
            <a:ext cx="2194560" cy="914400"/>
          </a:xfrm>
          <a:prstGeom prst="roundRect">
            <a:avLst/>
          </a:prstGeom>
          <a:solidFill>
            <a:srgbClr val="EEF6FC"/>
          </a:solidFill>
          <a:ln w="17780"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X</a:t>
            </a:r>
            <a:br/>
            <a:r>
              <a:t>treatment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49A24525-3569-447C-B087-F0AEF2DF271F}"/>
              </a:ext>
            </a:extLst>
          </p:cNvPr>
          <p:cNvCxnSpPr/>
          <p:nvPr/>
        </p:nvCxnSpPr>
        <p:spPr>
          <a:xfrm>
            <a:off x="3291840" y="2926080"/>
            <a:ext cx="1600200" cy="0"/>
          </a:xfrm>
          <a:prstGeom prst="line">
            <a:avLst/>
          </a:prstGeom>
          <a:ln w="25400">
            <a:solidFill>
              <a:srgbClr val="2A66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862DD4D3-7F7C-F1C4-30A6-7896BD6C4E47}"/>
              </a:ext>
            </a:extLst>
          </p:cNvPr>
          <p:cNvSpPr/>
          <p:nvPr/>
        </p:nvSpPr>
        <p:spPr>
          <a:xfrm rot="5400000">
            <a:off x="4809744" y="2843784"/>
            <a:ext cx="164592" cy="164592"/>
          </a:xfrm>
          <a:prstGeom prst="triangle">
            <a:avLst/>
          </a:prstGeom>
          <a:solidFill>
            <a:srgbClr val="2A6694"/>
          </a:solidFill>
          <a:ln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E5BB9E6-BB1D-C9B3-BD1B-A4D67A6E202D}"/>
              </a:ext>
            </a:extLst>
          </p:cNvPr>
          <p:cNvSpPr/>
          <p:nvPr/>
        </p:nvSpPr>
        <p:spPr>
          <a:xfrm>
            <a:off x="4892040" y="2468880"/>
            <a:ext cx="2011680" cy="914400"/>
          </a:xfrm>
          <a:prstGeom prst="roundRect">
            <a:avLst/>
          </a:prstGeom>
          <a:solidFill>
            <a:srgbClr val="FFF7E6"/>
          </a:solidFill>
          <a:ln w="17780"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M</a:t>
            </a:r>
            <a:br/>
            <a:r>
              <a:t>mechanism</a:t>
            </a:r>
          </a:p>
        </p:txBody>
      </p: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74C1207A-743B-6F84-2570-78E2227F4404}"/>
              </a:ext>
            </a:extLst>
          </p:cNvPr>
          <p:cNvCxnSpPr/>
          <p:nvPr/>
        </p:nvCxnSpPr>
        <p:spPr>
          <a:xfrm>
            <a:off x="6903720" y="2926080"/>
            <a:ext cx="1645920" cy="0"/>
          </a:xfrm>
          <a:prstGeom prst="line">
            <a:avLst/>
          </a:prstGeom>
          <a:ln w="25400">
            <a:solidFill>
              <a:srgbClr val="2A66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2BE76B7E-C301-3DCD-CECD-8AD01E6457A3}"/>
              </a:ext>
            </a:extLst>
          </p:cNvPr>
          <p:cNvSpPr/>
          <p:nvPr/>
        </p:nvSpPr>
        <p:spPr>
          <a:xfrm rot="5400000">
            <a:off x="8467344" y="2843784"/>
            <a:ext cx="164592" cy="164592"/>
          </a:xfrm>
          <a:prstGeom prst="triangle">
            <a:avLst/>
          </a:prstGeom>
          <a:solidFill>
            <a:srgbClr val="2A6694"/>
          </a:solidFill>
          <a:ln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2EFAFAC-5951-9CD5-685F-6AB0481A4E9B}"/>
              </a:ext>
            </a:extLst>
          </p:cNvPr>
          <p:cNvSpPr/>
          <p:nvPr/>
        </p:nvSpPr>
        <p:spPr>
          <a:xfrm>
            <a:off x="8549640" y="2468880"/>
            <a:ext cx="2194560" cy="914400"/>
          </a:xfrm>
          <a:prstGeom prst="roundRect">
            <a:avLst/>
          </a:prstGeom>
          <a:solidFill>
            <a:srgbClr val="FFF7F7"/>
          </a:solidFill>
          <a:ln w="1778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Y</a:t>
            </a:r>
            <a:br/>
            <a:r>
              <a:t>outcome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A592058-07EF-1067-CD97-C49A363461DF}"/>
              </a:ext>
            </a:extLst>
          </p:cNvPr>
          <p:cNvSpPr/>
          <p:nvPr/>
        </p:nvSpPr>
        <p:spPr>
          <a:xfrm>
            <a:off x="914400" y="5074920"/>
            <a:ext cx="10332720" cy="868680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lnSpcReduction="10000"/>
          </a:bodyPr>
          <a:lstStyle/>
          <a:p>
            <a:pPr algn="ctr">
              <a:defRPr sz="2200" b="0">
                <a:solidFill>
                  <a:srgbClr val="262626"/>
                </a:solidFill>
                <a:latin typeface="Aptos"/>
              </a:defRPr>
            </a:pPr>
            <a:r>
              <a:t>Example: college may affect alumni network, which may affect earnings. A mediator is part of the causal pathway, not a pre-treatment common cause.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1D3CB8-1235-BD9A-8624-306A471B7A3C}"/>
              </a:ext>
            </a:extLst>
          </p:cNvPr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8618AD-D515-207C-BD15-18046E27A7F1}"/>
              </a:ext>
            </a:extLst>
          </p:cNvPr>
          <p:cNvSpPr txBox="1"/>
          <p:nvPr/>
        </p:nvSpPr>
        <p:spPr>
          <a:xfrm>
            <a:off x="1009790" y="4057589"/>
            <a:ext cx="70957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 mediator X is a captures how the treatment X effect outcome Y.  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2259E6A6-9375-76DA-28BF-3A7C570ABE01}"/>
              </a:ext>
            </a:extLst>
          </p:cNvPr>
          <p:cNvSpPr/>
          <p:nvPr/>
        </p:nvSpPr>
        <p:spPr>
          <a:xfrm rot="16200000">
            <a:off x="4704767" y="-1267048"/>
            <a:ext cx="2318181" cy="7517221"/>
          </a:xfrm>
          <a:prstGeom prst="arc">
            <a:avLst>
              <a:gd name="adj1" fmla="val 16241008"/>
              <a:gd name="adj2" fmla="val 5330640"/>
            </a:avLst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A863EA-E560-D7DA-A4C2-8762B9F914BC}"/>
              </a:ext>
            </a:extLst>
          </p:cNvPr>
          <p:cNvSpPr txBox="1"/>
          <p:nvPr/>
        </p:nvSpPr>
        <p:spPr>
          <a:xfrm>
            <a:off x="5690131" y="120246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❌</a:t>
            </a:r>
          </a:p>
        </p:txBody>
      </p:sp>
    </p:spTree>
    <p:extLst>
      <p:ext uri="{BB962C8B-B14F-4D97-AF65-F5344CB8AC3E}">
        <p14:creationId xmlns:p14="http://schemas.microsoft.com/office/powerpoint/2010/main" val="5915484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Motif 3: collider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" y="2468880"/>
            <a:ext cx="2103120" cy="914400"/>
          </a:xfrm>
          <a:prstGeom prst="roundRect">
            <a:avLst/>
          </a:prstGeom>
          <a:solidFill>
            <a:srgbClr val="EEF6FC"/>
          </a:solidFill>
          <a:ln w="17780"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83480" y="2468880"/>
            <a:ext cx="2194560" cy="914400"/>
          </a:xfrm>
          <a:prstGeom prst="roundRect">
            <a:avLst/>
          </a:prstGeom>
          <a:solidFill>
            <a:srgbClr val="FFF7E6"/>
          </a:solidFill>
          <a:ln w="17780">
            <a:solidFill>
              <a:srgbClr val="C66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C</a:t>
            </a:r>
            <a:br/>
            <a:r>
              <a:t>selected sample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2468880"/>
            <a:ext cx="2103120" cy="914400"/>
          </a:xfrm>
          <a:prstGeom prst="roundRect">
            <a:avLst/>
          </a:prstGeom>
          <a:solidFill>
            <a:srgbClr val="FFF7F7"/>
          </a:solidFill>
          <a:ln w="1778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262626"/>
                </a:solidFill>
                <a:latin typeface="Aptos"/>
              </a:defRPr>
            </a:pPr>
            <a:r>
              <a:t>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0" y="2926080"/>
            <a:ext cx="1783080" cy="0"/>
          </a:xfrm>
          <a:prstGeom prst="line">
            <a:avLst/>
          </a:prstGeom>
          <a:ln w="25400">
            <a:solidFill>
              <a:srgbClr val="2A66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5400000">
            <a:off x="4901184" y="2843784"/>
            <a:ext cx="164592" cy="164592"/>
          </a:xfrm>
          <a:prstGeom prst="triangle">
            <a:avLst/>
          </a:prstGeom>
          <a:solidFill>
            <a:srgbClr val="2A6694"/>
          </a:solidFill>
          <a:ln>
            <a:solidFill>
              <a:srgbClr val="2A6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 flipH="1">
            <a:off x="7178040" y="2926080"/>
            <a:ext cx="1600200" cy="0"/>
          </a:xfrm>
          <a:prstGeom prst="line">
            <a:avLst/>
          </a:prstGeom>
          <a:ln w="25400">
            <a:solidFill>
              <a:srgbClr val="8C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16200000">
            <a:off x="7095744" y="2843784"/>
            <a:ext cx="164592" cy="164592"/>
          </a:xfrm>
          <a:prstGeom prst="triangle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5074920"/>
            <a:ext cx="10332720" cy="868680"/>
          </a:xfrm>
          <a:prstGeom prst="roundRect">
            <a:avLst/>
          </a:prstGeom>
          <a:solidFill>
            <a:srgbClr val="F8F7F4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fontScale="92500"/>
          </a:bodyPr>
          <a:lstStyle/>
          <a:p>
            <a:pPr algn="ctr">
              <a:defRPr sz="2200" b="0">
                <a:solidFill>
                  <a:srgbClr val="262626"/>
                </a:solidFill>
                <a:latin typeface="Aptos"/>
              </a:defRPr>
            </a:pPr>
            <a:r>
              <a:t>Example: if we only look at people hired by a top firm, talent and connections may become related inside that selected group even if they were unrelated in the full population.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6A0D0-CA0E-2CE2-2626-1C080B534773}"/>
              </a:ext>
            </a:extLst>
          </p:cNvPr>
          <p:cNvSpPr txBox="1"/>
          <p:nvPr/>
        </p:nvSpPr>
        <p:spPr>
          <a:xfrm>
            <a:off x="914400" y="4077730"/>
            <a:ext cx="5458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 collider measures the common effect of X and Y. 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rPr lang="en-US" dirty="0"/>
              <a:t>More about these in next lecture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698480" cy="4297680"/>
          </a:xfrm>
          <a:prstGeom prst="rect">
            <a:avLst/>
          </a:prstGeom>
          <a:noFill/>
        </p:spPr>
        <p:txBody>
          <a:bodyPr wrap="square" lIns="164592" tIns="18288" rIns="73152" bIns="18288">
            <a:normAutofit/>
          </a:bodyPr>
          <a:lstStyle/>
          <a:p>
            <a:pPr>
              <a:spcAft>
                <a:spcPts val="700"/>
              </a:spcAft>
              <a:defRPr sz="2600">
                <a:solidFill>
                  <a:srgbClr val="262626"/>
                </a:solidFill>
                <a:latin typeface="Aptos"/>
              </a:defRPr>
            </a:pPr>
            <a:r>
              <a:rPr dirty="0"/>
              <a:t>Which variables should we control for?</a:t>
            </a:r>
            <a:endParaRPr lang="en-US" dirty="0"/>
          </a:p>
          <a:p>
            <a:pPr>
              <a:spcAft>
                <a:spcPts val="700"/>
              </a:spcAft>
              <a:defRPr sz="2600">
                <a:solidFill>
                  <a:srgbClr val="262626"/>
                </a:solidFill>
                <a:latin typeface="Aptos"/>
              </a:defRPr>
            </a:pPr>
            <a:endParaRPr dirty="0"/>
          </a:p>
          <a:p>
            <a:pPr>
              <a:spcAft>
                <a:spcPts val="700"/>
              </a:spcAft>
              <a:defRPr sz="2600">
                <a:solidFill>
                  <a:srgbClr val="262626"/>
                </a:solidFill>
                <a:latin typeface="Aptos"/>
              </a:defRPr>
            </a:pPr>
            <a:r>
              <a:rPr dirty="0"/>
              <a:t>Why can controlling for a mediator change the causal question?</a:t>
            </a:r>
            <a:endParaRPr lang="en-US" dirty="0"/>
          </a:p>
          <a:p>
            <a:pPr>
              <a:spcAft>
                <a:spcPts val="700"/>
              </a:spcAft>
              <a:defRPr sz="2600">
                <a:solidFill>
                  <a:srgbClr val="262626"/>
                </a:solidFill>
                <a:latin typeface="Aptos"/>
              </a:defRPr>
            </a:pPr>
            <a:endParaRPr dirty="0"/>
          </a:p>
          <a:p>
            <a:pPr>
              <a:spcAft>
                <a:spcPts val="700"/>
              </a:spcAft>
              <a:defRPr sz="2600">
                <a:solidFill>
                  <a:srgbClr val="262626"/>
                </a:solidFill>
                <a:latin typeface="Aptos"/>
              </a:defRPr>
            </a:pPr>
            <a:r>
              <a:rPr dirty="0"/>
              <a:t>Why can conditioning on a collider create bias?</a:t>
            </a:r>
            <a:endParaRPr lang="en-US" dirty="0"/>
          </a:p>
          <a:p>
            <a:pPr>
              <a:spcAft>
                <a:spcPts val="700"/>
              </a:spcAft>
              <a:defRPr sz="2600">
                <a:solidFill>
                  <a:srgbClr val="262626"/>
                </a:solidFill>
                <a:latin typeface="Aptos"/>
              </a:defRPr>
            </a:pPr>
            <a:endParaRPr dirty="0"/>
          </a:p>
          <a:p>
            <a:pPr>
              <a:spcAft>
                <a:spcPts val="700"/>
              </a:spcAft>
              <a:defRPr sz="2600">
                <a:solidFill>
                  <a:srgbClr val="262626"/>
                </a:solidFill>
                <a:latin typeface="Aptos"/>
              </a:defRPr>
            </a:pPr>
            <a:r>
              <a:rPr dirty="0"/>
              <a:t>How do DAGs connect to RCTs, natural experiments, and difference-in-differences?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Preview: how can we make causal comparisons credible?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234440"/>
          <a:ext cx="110185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78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pPr algn="l"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Strategy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What it tries to do</a:t>
                      </a:r>
                    </a:p>
                  </a:txBody>
                  <a:tcPr marL="73152" marR="73152" marT="36576" marB="36576">
                    <a:solidFill>
                      <a:srgbClr val="8C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Randomized experiment / A-B test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Create comparable groups by random assignment.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Natural experiment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Use external variation that is plausibly as-if random.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Difference-in-differences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Use a comparison group to remove background trends.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DAGs + adjustment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62626"/>
                          </a:solidFill>
                          <a:latin typeface="Aptos"/>
                        </a:defRPr>
                      </a:pPr>
                      <a:r>
                        <a:t>Make assumptions explicit and compare similar units.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t>Lecture 18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280160"/>
            <a:ext cx="10789920" cy="4297680"/>
          </a:xfrm>
          <a:prstGeom prst="rect">
            <a:avLst/>
          </a:prstGeom>
          <a:noFill/>
        </p:spPr>
        <p:txBody>
          <a:bodyPr wrap="square" lIns="164592" tIns="18288" rIns="73152" bIns="18288">
            <a:normAutofit lnSpcReduction="10000"/>
          </a:bodyPr>
          <a:lstStyle/>
          <a:p>
            <a:pPr>
              <a:spcAft>
                <a:spcPts val="700"/>
              </a:spcAft>
              <a:defRPr sz="2500">
                <a:solidFill>
                  <a:srgbClr val="262626"/>
                </a:solidFill>
                <a:latin typeface="Aptos"/>
              </a:defRPr>
            </a:pPr>
            <a:r>
              <a:rPr dirty="0"/>
              <a:t>Prediction and causation answer different questions.</a:t>
            </a:r>
            <a:endParaRPr lang="en-US" dirty="0"/>
          </a:p>
          <a:p>
            <a:pPr>
              <a:spcAft>
                <a:spcPts val="700"/>
              </a:spcAft>
              <a:defRPr sz="2500">
                <a:solidFill>
                  <a:srgbClr val="262626"/>
                </a:solidFill>
                <a:latin typeface="Aptos"/>
              </a:defRPr>
            </a:pPr>
            <a:endParaRPr dirty="0"/>
          </a:p>
          <a:p>
            <a:pPr>
              <a:spcAft>
                <a:spcPts val="700"/>
              </a:spcAft>
              <a:defRPr sz="2500">
                <a:solidFill>
                  <a:srgbClr val="262626"/>
                </a:solidFill>
                <a:latin typeface="Aptos"/>
              </a:defRPr>
            </a:pPr>
            <a:r>
              <a:rPr dirty="0"/>
              <a:t>Correlation can be real but causally misleading.</a:t>
            </a:r>
            <a:endParaRPr lang="en-US" dirty="0"/>
          </a:p>
          <a:p>
            <a:pPr>
              <a:spcAft>
                <a:spcPts val="700"/>
              </a:spcAft>
              <a:defRPr sz="2500">
                <a:solidFill>
                  <a:srgbClr val="262626"/>
                </a:solidFill>
                <a:latin typeface="Aptos"/>
              </a:defRPr>
            </a:pPr>
            <a:endParaRPr dirty="0"/>
          </a:p>
          <a:p>
            <a:pPr>
              <a:spcAft>
                <a:spcPts val="700"/>
              </a:spcAft>
              <a:defRPr sz="2500">
                <a:solidFill>
                  <a:srgbClr val="262626"/>
                </a:solidFill>
                <a:latin typeface="Aptos"/>
              </a:defRPr>
            </a:pPr>
            <a:r>
              <a:rPr dirty="0"/>
              <a:t>Three common failures: confounding, reverse causality, and selection/aggregation.</a:t>
            </a:r>
            <a:endParaRPr lang="en-US" dirty="0"/>
          </a:p>
          <a:p>
            <a:pPr>
              <a:spcAft>
                <a:spcPts val="700"/>
              </a:spcAft>
              <a:defRPr sz="2500">
                <a:solidFill>
                  <a:srgbClr val="262626"/>
                </a:solidFill>
                <a:latin typeface="Aptos"/>
              </a:defRPr>
            </a:pPr>
            <a:endParaRPr dirty="0"/>
          </a:p>
          <a:p>
            <a:pPr>
              <a:spcAft>
                <a:spcPts val="700"/>
              </a:spcAft>
              <a:defRPr sz="2500">
                <a:solidFill>
                  <a:srgbClr val="262626"/>
                </a:solidFill>
                <a:latin typeface="Aptos"/>
              </a:defRPr>
            </a:pPr>
            <a:r>
              <a:rPr dirty="0"/>
              <a:t>The fundamental problem: for each unit, one potential outcome is missing.</a:t>
            </a:r>
            <a:endParaRPr lang="en-US" dirty="0"/>
          </a:p>
          <a:p>
            <a:pPr>
              <a:spcAft>
                <a:spcPts val="700"/>
              </a:spcAft>
              <a:defRPr sz="2500">
                <a:solidFill>
                  <a:srgbClr val="262626"/>
                </a:solidFill>
                <a:latin typeface="Aptos"/>
              </a:defRPr>
            </a:pPr>
            <a:endParaRPr dirty="0"/>
          </a:p>
          <a:p>
            <a:pPr>
              <a:spcAft>
                <a:spcPts val="700"/>
              </a:spcAft>
              <a:defRPr sz="2500">
                <a:solidFill>
                  <a:srgbClr val="262626"/>
                </a:solidFill>
                <a:latin typeface="Aptos"/>
              </a:defRPr>
            </a:pPr>
            <a:r>
              <a:rPr dirty="0"/>
              <a:t>DAGs are a compact language for causal assumptions.</a:t>
            </a:r>
            <a:endParaRPr lang="en-US" dirty="0"/>
          </a:p>
          <a:p>
            <a:pPr>
              <a:spcAft>
                <a:spcPts val="700"/>
              </a:spcAft>
              <a:defRPr sz="2500">
                <a:solidFill>
                  <a:srgbClr val="262626"/>
                </a:solidFill>
                <a:latin typeface="Aptos"/>
              </a:defRPr>
            </a:pP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914400" y="5637276"/>
            <a:ext cx="10332720" cy="640080"/>
          </a:xfrm>
          <a:prstGeom prst="roundRect">
            <a:avLst/>
          </a:prstGeom>
          <a:solidFill>
            <a:srgbClr val="FFF7F7"/>
          </a:solidFill>
          <a:ln w="16510"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rmAutofit fontScale="77500" lnSpcReduction="20000"/>
          </a:bodyPr>
          <a:lstStyle/>
          <a:p>
            <a:pPr algn="ctr">
              <a:defRPr sz="2400" b="0">
                <a:solidFill>
                  <a:srgbClr val="262626"/>
                </a:solidFill>
                <a:latin typeface="Aptos"/>
              </a:defRPr>
            </a:pPr>
            <a:r>
              <a:rPr dirty="0"/>
              <a:t>Causal inference is about constructing a credible comparison to the missing counterfactual.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430000" cy="566928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3200" b="1" i="0">
                <a:solidFill>
                  <a:srgbClr val="262626"/>
                </a:solidFill>
                <a:latin typeface="Aptos"/>
              </a:defRPr>
            </a:pPr>
            <a:r>
              <a:rPr lang="en-US" dirty="0"/>
              <a:t>More thinkings: 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32004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08760"/>
            <a:ext cx="10241280" cy="4297680"/>
          </a:xfrm>
          <a:prstGeom prst="rect">
            <a:avLst/>
          </a:prstGeom>
          <a:noFill/>
        </p:spPr>
        <p:txBody>
          <a:bodyPr wrap="square" lIns="164592" tIns="18288" rIns="73152" bIns="18288">
            <a:normAutofit/>
          </a:bodyPr>
          <a:lstStyle/>
          <a:p>
            <a:pPr>
              <a:spcAft>
                <a:spcPts val="700"/>
              </a:spcAft>
              <a:defRPr sz="2700">
                <a:solidFill>
                  <a:srgbClr val="262626"/>
                </a:solidFill>
                <a:latin typeface="Aptos"/>
              </a:defRPr>
            </a:pPr>
            <a:r>
              <a:rPr dirty="0"/>
              <a:t>Give one example where a correlation is real but the causal interpretation is wrong.</a:t>
            </a:r>
            <a:endParaRPr lang="en-US" dirty="0"/>
          </a:p>
          <a:p>
            <a:pPr>
              <a:spcAft>
                <a:spcPts val="700"/>
              </a:spcAft>
              <a:defRPr sz="2700">
                <a:solidFill>
                  <a:srgbClr val="262626"/>
                </a:solidFill>
                <a:latin typeface="Aptos"/>
              </a:defRPr>
            </a:pPr>
            <a:endParaRPr dirty="0"/>
          </a:p>
          <a:p>
            <a:pPr>
              <a:spcAft>
                <a:spcPts val="700"/>
              </a:spcAft>
              <a:defRPr sz="2700">
                <a:solidFill>
                  <a:srgbClr val="262626"/>
                </a:solidFill>
                <a:latin typeface="Aptos"/>
              </a:defRPr>
            </a:pPr>
            <a:r>
              <a:rPr dirty="0"/>
              <a:t>Explain the “missing half of the data” in one sentence.</a:t>
            </a:r>
            <a:endParaRPr lang="en-US" dirty="0"/>
          </a:p>
          <a:p>
            <a:pPr>
              <a:spcAft>
                <a:spcPts val="700"/>
              </a:spcAft>
              <a:defRPr sz="2700">
                <a:solidFill>
                  <a:srgbClr val="262626"/>
                </a:solidFill>
                <a:latin typeface="Aptos"/>
              </a:defRPr>
            </a:pPr>
            <a:endParaRPr dirty="0"/>
          </a:p>
          <a:p>
            <a:pPr>
              <a:spcAft>
                <a:spcPts val="700"/>
              </a:spcAft>
              <a:defRPr sz="2700">
                <a:solidFill>
                  <a:srgbClr val="262626"/>
                </a:solidFill>
                <a:latin typeface="Aptos"/>
              </a:defRPr>
            </a:pPr>
            <a:r>
              <a:rPr dirty="0"/>
              <a:t>Draw a simple DAG for the tutoring example.</a:t>
            </a:r>
            <a:endParaRPr lang="en-US" dirty="0"/>
          </a:p>
          <a:p>
            <a:pPr>
              <a:spcAft>
                <a:spcPts val="700"/>
              </a:spcAft>
              <a:defRPr sz="2700">
                <a:solidFill>
                  <a:srgbClr val="262626"/>
                </a:solidFill>
                <a:latin typeface="Aptos"/>
              </a:defRPr>
            </a:pPr>
            <a:endParaRPr dirty="0"/>
          </a:p>
          <a:p>
            <a:pPr>
              <a:spcAft>
                <a:spcPts val="700"/>
              </a:spcAft>
              <a:defRPr sz="2700">
                <a:solidFill>
                  <a:srgbClr val="262626"/>
                </a:solidFill>
                <a:latin typeface="Aptos"/>
              </a:defRPr>
            </a:pPr>
            <a:r>
              <a:rPr dirty="0"/>
              <a:t>What would make the Stanford premium question easier to answer causally?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73952"/>
            <a:ext cx="4114800" cy="228600"/>
          </a:xfrm>
          <a:prstGeom prst="rect">
            <a:avLst/>
          </a:prstGeom>
          <a:noFill/>
        </p:spPr>
        <p:txBody>
          <a:bodyPr wrap="square" lIns="73152" tIns="27432" rIns="73152" bIns="27432">
            <a:normAutofit/>
          </a:bodyPr>
          <a:lstStyle/>
          <a:p>
            <a:pPr algn="l">
              <a:defRPr sz="900" b="0" i="0">
                <a:solidFill>
                  <a:srgbClr val="5C5C5C"/>
                </a:solidFill>
                <a:latin typeface="Aptos"/>
              </a:defRPr>
            </a:pPr>
            <a:r>
              <a:t>MSE 125 | Lecture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2846</Words>
  <Application>Microsoft Macintosh PowerPoint</Application>
  <PresentationFormat>Widescreen</PresentationFormat>
  <Paragraphs>524</Paragraphs>
  <Slides>55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I-han Lai</cp:lastModifiedBy>
  <cp:revision>5</cp:revision>
  <dcterms:created xsi:type="dcterms:W3CDTF">2013-01-27T09:14:16Z</dcterms:created>
  <dcterms:modified xsi:type="dcterms:W3CDTF">2026-06-01T18:19:54Z</dcterms:modified>
  <cp:category/>
</cp:coreProperties>
</file>